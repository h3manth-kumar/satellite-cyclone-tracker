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23" autoAdjust="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8922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19200" y="12613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649921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2064" y="813320"/>
            <a:ext cx="8201306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lang="en-IN" sz="2400" b="1" dirty="0"/>
              <a:t>SIH26070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b="1" dirty="0"/>
              <a:t>AI/ML-based Tropical Cyclone Identification, Classification and Prediction using Multi-Source Satellite Data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b="1" dirty="0"/>
              <a:t>Disaster Management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NA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Omnitrix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78136" cy="57071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Omnitrix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952AE3-B83F-7B7A-3DC5-A178EC0C0476}"/>
              </a:ext>
            </a:extLst>
          </p:cNvPr>
          <p:cNvSpPr txBox="1"/>
          <p:nvPr/>
        </p:nvSpPr>
        <p:spPr>
          <a:xfrm>
            <a:off x="1508760" y="155448"/>
            <a:ext cx="9052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0">
                <a:solidFill>
                  <a:srgbClr val="2A4C6D"/>
                </a:solidFill>
                <a:latin typeface="Georgia"/>
              </a:defRPr>
            </a:pP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CD601C-0D52-E0C6-B08A-6CE3FAF36D7F}"/>
              </a:ext>
            </a:extLst>
          </p:cNvPr>
          <p:cNvSpPr txBox="1"/>
          <p:nvPr/>
        </p:nvSpPr>
        <p:spPr>
          <a:xfrm>
            <a:off x="704088" y="868680"/>
            <a:ext cx="34564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r>
              <a:rPr dirty="0"/>
              <a:t>Proposed Solution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4F8FF1-1EB2-481E-C5F9-1F662FD848C3}"/>
              </a:ext>
            </a:extLst>
          </p:cNvPr>
          <p:cNvSpPr/>
          <p:nvPr/>
        </p:nvSpPr>
        <p:spPr>
          <a:xfrm>
            <a:off x="704088" y="1234440"/>
            <a:ext cx="1057046" cy="22860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F51E6F-2B5B-10C4-6686-990DB0481A44}"/>
              </a:ext>
            </a:extLst>
          </p:cNvPr>
          <p:cNvSpPr txBox="1"/>
          <p:nvPr/>
        </p:nvSpPr>
        <p:spPr>
          <a:xfrm>
            <a:off x="594360" y="1240104"/>
            <a:ext cx="109728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5B656F"/>
                </a:solidFill>
                <a:latin typeface="Aptos"/>
              </a:defRPr>
            </a:pPr>
            <a:r>
              <a:rPr sz="2000" b="1" dirty="0"/>
              <a:t>One platform converts complex satellite and weather observations into understandable predictions, risks and alerts.</a:t>
            </a:r>
          </a:p>
        </p:txBody>
      </p:sp>
      <p:sp>
        <p:nvSpPr>
          <p:cNvPr id="18" name="Rounded Rectangle 12">
            <a:extLst>
              <a:ext uri="{FF2B5EF4-FFF2-40B4-BE49-F238E27FC236}">
                <a16:creationId xmlns:a16="http://schemas.microsoft.com/office/drawing/2014/main" id="{CB6B6209-4802-0BFB-3072-2BE6A93EA149}"/>
              </a:ext>
            </a:extLst>
          </p:cNvPr>
          <p:cNvSpPr/>
          <p:nvPr/>
        </p:nvSpPr>
        <p:spPr>
          <a:xfrm>
            <a:off x="502920" y="1847088"/>
            <a:ext cx="1901952" cy="1024128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7EAD43-7781-9B3F-A4EC-C68EFCC63990}"/>
              </a:ext>
            </a:extLst>
          </p:cNvPr>
          <p:cNvSpPr txBox="1"/>
          <p:nvPr/>
        </p:nvSpPr>
        <p:spPr>
          <a:xfrm>
            <a:off x="310896" y="1853220"/>
            <a:ext cx="209397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271B5"/>
                </a:solidFill>
                <a:latin typeface="Aptos"/>
              </a:defRPr>
            </a:pPr>
            <a:r>
              <a:rPr sz="14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096A14-CA46-F38B-0B20-8CEBD74D3121}"/>
              </a:ext>
            </a:extLst>
          </p:cNvPr>
          <p:cNvSpPr txBox="1"/>
          <p:nvPr/>
        </p:nvSpPr>
        <p:spPr>
          <a:xfrm>
            <a:off x="612648" y="2097542"/>
            <a:ext cx="168249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MULTI-SOURCE</a:t>
            </a:r>
            <a:br>
              <a:rPr sz="1400" dirty="0"/>
            </a:br>
            <a:r>
              <a:rPr sz="1400" dirty="0"/>
              <a:t>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92E5D2-72A6-F3AF-300A-6401C199B4F1}"/>
              </a:ext>
            </a:extLst>
          </p:cNvPr>
          <p:cNvSpPr txBox="1"/>
          <p:nvPr/>
        </p:nvSpPr>
        <p:spPr>
          <a:xfrm>
            <a:off x="612648" y="2435870"/>
            <a:ext cx="168249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5B656F"/>
                </a:solidFill>
                <a:latin typeface="Aptos"/>
              </a:defRPr>
            </a:pPr>
            <a:r>
              <a:rPr sz="1400" dirty="0"/>
              <a:t>Satellite • Weather • Ocean</a:t>
            </a:r>
          </a:p>
        </p:txBody>
      </p:sp>
      <p:cxnSp>
        <p:nvCxnSpPr>
          <p:cNvPr id="22" name="Connector 16">
            <a:extLst>
              <a:ext uri="{FF2B5EF4-FFF2-40B4-BE49-F238E27FC236}">
                <a16:creationId xmlns:a16="http://schemas.microsoft.com/office/drawing/2014/main" id="{B1D967E4-61E6-4396-2543-DAE89CB0826F}"/>
              </a:ext>
            </a:extLst>
          </p:cNvPr>
          <p:cNvCxnSpPr/>
          <p:nvPr/>
        </p:nvCxnSpPr>
        <p:spPr>
          <a:xfrm>
            <a:off x="2423160" y="2359152"/>
            <a:ext cx="301752" cy="0"/>
          </a:xfrm>
          <a:prstGeom prst="line">
            <a:avLst/>
          </a:prstGeom>
          <a:ln w="25400">
            <a:solidFill>
              <a:srgbClr val="127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F7D858D-E9EF-0E35-044A-98A800729EAD}"/>
              </a:ext>
            </a:extLst>
          </p:cNvPr>
          <p:cNvSpPr/>
          <p:nvPr/>
        </p:nvSpPr>
        <p:spPr>
          <a:xfrm>
            <a:off x="2770632" y="1847088"/>
            <a:ext cx="1901952" cy="1024128"/>
          </a:xfrm>
          <a:prstGeom prst="roundRect">
            <a:avLst/>
          </a:prstGeom>
          <a:solidFill>
            <a:srgbClr val="F1F9F4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100989-8A4E-CDB8-C994-26DFB86C664E}"/>
              </a:ext>
            </a:extLst>
          </p:cNvPr>
          <p:cNvSpPr txBox="1"/>
          <p:nvPr/>
        </p:nvSpPr>
        <p:spPr>
          <a:xfrm>
            <a:off x="2770632" y="1876080"/>
            <a:ext cx="19019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38F5E"/>
                </a:solidFill>
                <a:latin typeface="Aptos"/>
              </a:defRPr>
            </a:pPr>
            <a:r>
              <a:rPr sz="14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950C0C-F3DE-0347-11B6-E9402A51666D}"/>
              </a:ext>
            </a:extLst>
          </p:cNvPr>
          <p:cNvSpPr txBox="1"/>
          <p:nvPr/>
        </p:nvSpPr>
        <p:spPr>
          <a:xfrm>
            <a:off x="2880360" y="2097542"/>
            <a:ext cx="168249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PROCESSING</a:t>
            </a:r>
            <a:br>
              <a:rPr sz="1400" dirty="0"/>
            </a:br>
            <a:r>
              <a:rPr sz="1400" dirty="0"/>
              <a:t>&amp; FUSION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F0C009-466D-EA2F-7C4F-41E0A4287871}"/>
              </a:ext>
            </a:extLst>
          </p:cNvPr>
          <p:cNvSpPr txBox="1"/>
          <p:nvPr/>
        </p:nvSpPr>
        <p:spPr>
          <a:xfrm>
            <a:off x="2889504" y="2425167"/>
            <a:ext cx="168249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5B656F"/>
                </a:solidFill>
                <a:latin typeface="Aptos"/>
              </a:defRPr>
            </a:pPr>
            <a:r>
              <a:rPr sz="1400" dirty="0"/>
              <a:t>Clean • Extract • Fuse</a:t>
            </a:r>
          </a:p>
        </p:txBody>
      </p:sp>
      <p:cxnSp>
        <p:nvCxnSpPr>
          <p:cNvPr id="27" name="Connector 21">
            <a:extLst>
              <a:ext uri="{FF2B5EF4-FFF2-40B4-BE49-F238E27FC236}">
                <a16:creationId xmlns:a16="http://schemas.microsoft.com/office/drawing/2014/main" id="{EABE7520-D06D-432F-CF27-23116CB4B86C}"/>
              </a:ext>
            </a:extLst>
          </p:cNvPr>
          <p:cNvCxnSpPr/>
          <p:nvPr/>
        </p:nvCxnSpPr>
        <p:spPr>
          <a:xfrm>
            <a:off x="4690872" y="2359152"/>
            <a:ext cx="301752" cy="0"/>
          </a:xfrm>
          <a:prstGeom prst="line">
            <a:avLst/>
          </a:prstGeom>
          <a:ln w="25400">
            <a:solidFill>
              <a:srgbClr val="338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2">
            <a:extLst>
              <a:ext uri="{FF2B5EF4-FFF2-40B4-BE49-F238E27FC236}">
                <a16:creationId xmlns:a16="http://schemas.microsoft.com/office/drawing/2014/main" id="{F1BC6254-3E12-29D0-03F5-1DCAAC1F2DDE}"/>
              </a:ext>
            </a:extLst>
          </p:cNvPr>
          <p:cNvSpPr/>
          <p:nvPr/>
        </p:nvSpPr>
        <p:spPr>
          <a:xfrm>
            <a:off x="5038344" y="1847088"/>
            <a:ext cx="1901952" cy="1024128"/>
          </a:xfrm>
          <a:prstGeom prst="roundRect">
            <a:avLst/>
          </a:prstGeom>
          <a:solidFill>
            <a:srgbClr val="F7F3FC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D6507D-6308-62D2-79BD-BD1FF8213175}"/>
              </a:ext>
            </a:extLst>
          </p:cNvPr>
          <p:cNvSpPr txBox="1"/>
          <p:nvPr/>
        </p:nvSpPr>
        <p:spPr>
          <a:xfrm>
            <a:off x="5038344" y="1876080"/>
            <a:ext cx="19019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74D93"/>
                </a:solidFill>
                <a:latin typeface="Aptos"/>
              </a:defRPr>
            </a:pPr>
            <a:r>
              <a:rPr sz="14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10EF7F-F1AF-8395-5E33-67149C6DB5B0}"/>
              </a:ext>
            </a:extLst>
          </p:cNvPr>
          <p:cNvSpPr txBox="1"/>
          <p:nvPr/>
        </p:nvSpPr>
        <p:spPr>
          <a:xfrm>
            <a:off x="5148072" y="2097542"/>
            <a:ext cx="168249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AI/ML</a:t>
            </a:r>
            <a:br>
              <a:rPr sz="1400" dirty="0"/>
            </a:br>
            <a:r>
              <a:rPr sz="1400" dirty="0"/>
              <a:t>MODEL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18A5E9-3B3A-949E-AC1F-18F0ED01FDA4}"/>
              </a:ext>
            </a:extLst>
          </p:cNvPr>
          <p:cNvSpPr txBox="1"/>
          <p:nvPr/>
        </p:nvSpPr>
        <p:spPr>
          <a:xfrm>
            <a:off x="5148072" y="2435870"/>
            <a:ext cx="168249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5B656F"/>
                </a:solidFill>
                <a:latin typeface="Aptos"/>
              </a:defRPr>
            </a:pPr>
            <a:r>
              <a:rPr sz="1400" dirty="0"/>
              <a:t>Detect • Classify • Forecast</a:t>
            </a:r>
          </a:p>
        </p:txBody>
      </p:sp>
      <p:cxnSp>
        <p:nvCxnSpPr>
          <p:cNvPr id="32" name="Connector 26">
            <a:extLst>
              <a:ext uri="{FF2B5EF4-FFF2-40B4-BE49-F238E27FC236}">
                <a16:creationId xmlns:a16="http://schemas.microsoft.com/office/drawing/2014/main" id="{0EBFEBE8-4DD0-B8FF-0496-5A4914FEEF35}"/>
              </a:ext>
            </a:extLst>
          </p:cNvPr>
          <p:cNvCxnSpPr/>
          <p:nvPr/>
        </p:nvCxnSpPr>
        <p:spPr>
          <a:xfrm>
            <a:off x="6958583" y="2359152"/>
            <a:ext cx="301753" cy="0"/>
          </a:xfrm>
          <a:prstGeom prst="line">
            <a:avLst/>
          </a:prstGeom>
          <a:ln w="25400">
            <a:solidFill>
              <a:srgbClr val="674D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27">
            <a:extLst>
              <a:ext uri="{FF2B5EF4-FFF2-40B4-BE49-F238E27FC236}">
                <a16:creationId xmlns:a16="http://schemas.microsoft.com/office/drawing/2014/main" id="{A47E492F-B1B9-5999-D6BA-DAD1317096C2}"/>
              </a:ext>
            </a:extLst>
          </p:cNvPr>
          <p:cNvSpPr/>
          <p:nvPr/>
        </p:nvSpPr>
        <p:spPr>
          <a:xfrm>
            <a:off x="7306056" y="1847088"/>
            <a:ext cx="1901952" cy="1024128"/>
          </a:xfrm>
          <a:prstGeom prst="roundRect">
            <a:avLst/>
          </a:prstGeom>
          <a:solidFill>
            <a:srgbClr val="FDF2F2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41F29A-FCE9-F6FA-ABD9-F00A2F44F627}"/>
              </a:ext>
            </a:extLst>
          </p:cNvPr>
          <p:cNvSpPr txBox="1"/>
          <p:nvPr/>
        </p:nvSpPr>
        <p:spPr>
          <a:xfrm>
            <a:off x="7306056" y="1876080"/>
            <a:ext cx="19019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C24141"/>
                </a:solidFill>
                <a:latin typeface="Aptos"/>
              </a:defRPr>
            </a:pPr>
            <a:r>
              <a:rPr sz="14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9AED08-AF89-21AD-196C-9D552E10DECD}"/>
              </a:ext>
            </a:extLst>
          </p:cNvPr>
          <p:cNvSpPr txBox="1"/>
          <p:nvPr/>
        </p:nvSpPr>
        <p:spPr>
          <a:xfrm>
            <a:off x="7415783" y="2112931"/>
            <a:ext cx="1682496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A4C6D"/>
                </a:solidFill>
                <a:latin typeface="Aptos"/>
              </a:defRPr>
            </a:pPr>
            <a:r>
              <a:rPr sz="1300" dirty="0"/>
              <a:t>RISK</a:t>
            </a:r>
            <a:br>
              <a:rPr sz="1300" dirty="0"/>
            </a:br>
            <a:r>
              <a:rPr sz="1300" dirty="0"/>
              <a:t>ASSESSMENT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221C07-2738-6C13-F469-75A6C4E43E2D}"/>
              </a:ext>
            </a:extLst>
          </p:cNvPr>
          <p:cNvSpPr txBox="1"/>
          <p:nvPr/>
        </p:nvSpPr>
        <p:spPr>
          <a:xfrm>
            <a:off x="7424928" y="2423880"/>
            <a:ext cx="168249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5B656F"/>
                </a:solidFill>
                <a:latin typeface="Aptos"/>
              </a:defRPr>
            </a:pPr>
            <a:r>
              <a:rPr sz="1400" dirty="0"/>
              <a:t>Location • Impact • Severity</a:t>
            </a:r>
          </a:p>
        </p:txBody>
      </p:sp>
      <p:cxnSp>
        <p:nvCxnSpPr>
          <p:cNvPr id="37" name="Connector 31">
            <a:extLst>
              <a:ext uri="{FF2B5EF4-FFF2-40B4-BE49-F238E27FC236}">
                <a16:creationId xmlns:a16="http://schemas.microsoft.com/office/drawing/2014/main" id="{37826C7E-D032-10FE-BA97-3360393BE36F}"/>
              </a:ext>
            </a:extLst>
          </p:cNvPr>
          <p:cNvCxnSpPr/>
          <p:nvPr/>
        </p:nvCxnSpPr>
        <p:spPr>
          <a:xfrm>
            <a:off x="9226296" y="2359152"/>
            <a:ext cx="301752" cy="0"/>
          </a:xfrm>
          <a:prstGeom prst="line">
            <a:avLst/>
          </a:prstGeom>
          <a:ln w="25400">
            <a:solidFill>
              <a:srgbClr val="C2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2">
            <a:extLst>
              <a:ext uri="{FF2B5EF4-FFF2-40B4-BE49-F238E27FC236}">
                <a16:creationId xmlns:a16="http://schemas.microsoft.com/office/drawing/2014/main" id="{AA1BA7DF-9AD1-E6B5-EC36-51B8B6FEEF62}"/>
              </a:ext>
            </a:extLst>
          </p:cNvPr>
          <p:cNvSpPr/>
          <p:nvPr/>
        </p:nvSpPr>
        <p:spPr>
          <a:xfrm>
            <a:off x="9573768" y="1847088"/>
            <a:ext cx="1901952" cy="1024128"/>
          </a:xfrm>
          <a:prstGeom prst="roundRect">
            <a:avLst/>
          </a:prstGeom>
          <a:solidFill>
            <a:srgbClr val="FCF7E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E114FD-FD7C-B7B2-ADD0-4FE780D69067}"/>
              </a:ext>
            </a:extLst>
          </p:cNvPr>
          <p:cNvSpPr txBox="1"/>
          <p:nvPr/>
        </p:nvSpPr>
        <p:spPr>
          <a:xfrm>
            <a:off x="9573768" y="1876080"/>
            <a:ext cx="19019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E1852A"/>
                </a:solidFill>
                <a:latin typeface="Aptos"/>
              </a:defRPr>
            </a:pPr>
            <a:r>
              <a:rPr sz="14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BA0483-7689-3B06-395E-1710848C7948}"/>
              </a:ext>
            </a:extLst>
          </p:cNvPr>
          <p:cNvSpPr txBox="1"/>
          <p:nvPr/>
        </p:nvSpPr>
        <p:spPr>
          <a:xfrm>
            <a:off x="9683496" y="2097542"/>
            <a:ext cx="168249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USER</a:t>
            </a:r>
            <a:br>
              <a:rPr sz="1400" dirty="0"/>
            </a:br>
            <a:r>
              <a:rPr sz="1400" dirty="0"/>
              <a:t>OUTPUTS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E670E8-8F08-A020-6A1E-992C234F3B70}"/>
              </a:ext>
            </a:extLst>
          </p:cNvPr>
          <p:cNvSpPr txBox="1"/>
          <p:nvPr/>
        </p:nvSpPr>
        <p:spPr>
          <a:xfrm>
            <a:off x="9692639" y="2406024"/>
            <a:ext cx="168249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5B656F"/>
                </a:solidFill>
                <a:latin typeface="Aptos"/>
              </a:defRPr>
            </a:pPr>
            <a:r>
              <a:rPr sz="1400" dirty="0"/>
              <a:t>Map • Alerts • AI Assistant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768F56-8DB3-9F0B-9E3A-1FDF92547C42}"/>
              </a:ext>
            </a:extLst>
          </p:cNvPr>
          <p:cNvSpPr txBox="1"/>
          <p:nvPr/>
        </p:nvSpPr>
        <p:spPr>
          <a:xfrm>
            <a:off x="649224" y="2980391"/>
            <a:ext cx="39136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r>
              <a:rPr dirty="0"/>
              <a:t>How It Addresses the Problem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FA2FC7-D02E-4070-658B-D5EFC4307120}"/>
              </a:ext>
            </a:extLst>
          </p:cNvPr>
          <p:cNvSpPr/>
          <p:nvPr/>
        </p:nvSpPr>
        <p:spPr>
          <a:xfrm>
            <a:off x="704088" y="3675888"/>
            <a:ext cx="1741017" cy="22860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5" name="Rounded Rectangle 39">
            <a:extLst>
              <a:ext uri="{FF2B5EF4-FFF2-40B4-BE49-F238E27FC236}">
                <a16:creationId xmlns:a16="http://schemas.microsoft.com/office/drawing/2014/main" id="{3F104E18-96D8-DD68-4899-962417CE714C}"/>
              </a:ext>
            </a:extLst>
          </p:cNvPr>
          <p:cNvSpPr/>
          <p:nvPr/>
        </p:nvSpPr>
        <p:spPr>
          <a:xfrm>
            <a:off x="502920" y="3332435"/>
            <a:ext cx="3474720" cy="1280721"/>
          </a:xfrm>
          <a:prstGeom prst="roundRect">
            <a:avLst/>
          </a:prstGeom>
          <a:solidFill>
            <a:srgbClr val="F1F9F4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76D32F5-5609-83D5-026F-8D6746E4B065}"/>
              </a:ext>
            </a:extLst>
          </p:cNvPr>
          <p:cNvSpPr/>
          <p:nvPr/>
        </p:nvSpPr>
        <p:spPr>
          <a:xfrm flipH="1">
            <a:off x="448057" y="3332436"/>
            <a:ext cx="45719" cy="1136266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F41CD4-5418-4B8B-30AF-5F77A8330EFC}"/>
              </a:ext>
            </a:extLst>
          </p:cNvPr>
          <p:cNvSpPr txBox="1"/>
          <p:nvPr/>
        </p:nvSpPr>
        <p:spPr>
          <a:xfrm>
            <a:off x="566928" y="3359138"/>
            <a:ext cx="3319271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COMPLEX DATA → SIMPLE INSIGHTS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BF8F0C-F79D-2FC6-F13F-C01BBB47A2E4}"/>
              </a:ext>
            </a:extLst>
          </p:cNvPr>
          <p:cNvSpPr txBox="1"/>
          <p:nvPr/>
        </p:nvSpPr>
        <p:spPr>
          <a:xfrm>
            <a:off x="612648" y="3730037"/>
            <a:ext cx="3255264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Turns satellite/weather observations into clear cyclone status, forecasts and risk information.</a:t>
            </a:r>
          </a:p>
        </p:txBody>
      </p:sp>
      <p:sp>
        <p:nvSpPr>
          <p:cNvPr id="49" name="Rounded Rectangle 43">
            <a:extLst>
              <a:ext uri="{FF2B5EF4-FFF2-40B4-BE49-F238E27FC236}">
                <a16:creationId xmlns:a16="http://schemas.microsoft.com/office/drawing/2014/main" id="{5DAF13CB-FB65-A92A-0667-E1A980211701}"/>
              </a:ext>
            </a:extLst>
          </p:cNvPr>
          <p:cNvSpPr/>
          <p:nvPr/>
        </p:nvSpPr>
        <p:spPr>
          <a:xfrm>
            <a:off x="4087367" y="3187124"/>
            <a:ext cx="3547873" cy="1481328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1C07020-E646-EF41-112B-E5A42E305F0A}"/>
              </a:ext>
            </a:extLst>
          </p:cNvPr>
          <p:cNvSpPr/>
          <p:nvPr/>
        </p:nvSpPr>
        <p:spPr>
          <a:xfrm flipH="1">
            <a:off x="4023360" y="3216258"/>
            <a:ext cx="54864" cy="1396898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608696-5968-C299-2F1B-4586CEDD07EB}"/>
              </a:ext>
            </a:extLst>
          </p:cNvPr>
          <p:cNvSpPr txBox="1"/>
          <p:nvPr/>
        </p:nvSpPr>
        <p:spPr>
          <a:xfrm>
            <a:off x="4224528" y="3266496"/>
            <a:ext cx="3319271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LOCATION-SPECIFIC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C6E25F-5F8B-7C25-8FBD-AC32A99BFA6E}"/>
              </a:ext>
            </a:extLst>
          </p:cNvPr>
          <p:cNvSpPr txBox="1"/>
          <p:nvPr/>
        </p:nvSpPr>
        <p:spPr>
          <a:xfrm>
            <a:off x="4160520" y="3818703"/>
            <a:ext cx="336499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Assesses risk for a user's location and provides focused warnings.</a:t>
            </a:r>
          </a:p>
        </p:txBody>
      </p:sp>
      <p:sp>
        <p:nvSpPr>
          <p:cNvPr id="53" name="Rounded Rectangle 47">
            <a:extLst>
              <a:ext uri="{FF2B5EF4-FFF2-40B4-BE49-F238E27FC236}">
                <a16:creationId xmlns:a16="http://schemas.microsoft.com/office/drawing/2014/main" id="{8AB6FF0F-8DE5-626A-8E18-FC46853E8213}"/>
              </a:ext>
            </a:extLst>
          </p:cNvPr>
          <p:cNvSpPr/>
          <p:nvPr/>
        </p:nvSpPr>
        <p:spPr>
          <a:xfrm>
            <a:off x="7818120" y="3216258"/>
            <a:ext cx="3886200" cy="1541016"/>
          </a:xfrm>
          <a:prstGeom prst="roundRect">
            <a:avLst/>
          </a:prstGeom>
          <a:solidFill>
            <a:srgbClr val="FCF7E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1CB9717-E7DE-1E85-366D-0DAC34E3F9F4}"/>
              </a:ext>
            </a:extLst>
          </p:cNvPr>
          <p:cNvSpPr/>
          <p:nvPr/>
        </p:nvSpPr>
        <p:spPr>
          <a:xfrm>
            <a:off x="7754112" y="3236309"/>
            <a:ext cx="64008" cy="1481328"/>
          </a:xfrm>
          <a:prstGeom prst="rect">
            <a:avLst/>
          </a:prstGeom>
          <a:solidFill>
            <a:srgbClr val="E1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E36437-8CF3-65C7-A3BF-5DEB162F6F61}"/>
              </a:ext>
            </a:extLst>
          </p:cNvPr>
          <p:cNvSpPr txBox="1"/>
          <p:nvPr/>
        </p:nvSpPr>
        <p:spPr>
          <a:xfrm>
            <a:off x="7909559" y="3289224"/>
            <a:ext cx="3694177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UNIQUE ADVANTAGE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D52A229-9B5F-89C0-77A5-3013C38D064D}"/>
              </a:ext>
            </a:extLst>
          </p:cNvPr>
          <p:cNvSpPr txBox="1"/>
          <p:nvPr/>
        </p:nvSpPr>
        <p:spPr>
          <a:xfrm>
            <a:off x="8001000" y="3781345"/>
            <a:ext cx="3593592" cy="5380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Prediction + observation + risk + smart alerts + AI assistant in one platform.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F87199-7E6C-F240-6225-A42CE18EFF28}"/>
              </a:ext>
            </a:extLst>
          </p:cNvPr>
          <p:cNvSpPr txBox="1"/>
          <p:nvPr/>
        </p:nvSpPr>
        <p:spPr>
          <a:xfrm>
            <a:off x="5696830" y="5160619"/>
            <a:ext cx="465429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38F5E"/>
                </a:solidFill>
                <a:latin typeface="Aptos"/>
              </a:defRPr>
            </a:pPr>
            <a:r>
              <a:rPr sz="2000" dirty="0"/>
              <a:t>DETECT  →  PREDICT  →  ASSESS  →  WARN  →  PREPARE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5B024D9-40FC-7A66-4EC8-E4A8BB540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55" y="4717636"/>
            <a:ext cx="4267082" cy="15483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4820" y="195424"/>
            <a:ext cx="1800310" cy="61555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Omnitrix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35" name="TextBox 17434">
            <a:extLst>
              <a:ext uri="{FF2B5EF4-FFF2-40B4-BE49-F238E27FC236}">
                <a16:creationId xmlns:a16="http://schemas.microsoft.com/office/drawing/2014/main" id="{5132C2ED-445D-85BE-F7E4-1B98DD2AD002}"/>
              </a:ext>
            </a:extLst>
          </p:cNvPr>
          <p:cNvSpPr txBox="1"/>
          <p:nvPr/>
        </p:nvSpPr>
        <p:spPr>
          <a:xfrm>
            <a:off x="640080" y="581067"/>
            <a:ext cx="4370832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endParaRPr lang="en-IN" dirty="0"/>
          </a:p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r>
              <a:rPr dirty="0"/>
              <a:t>Methodology &amp; Process</a:t>
            </a:r>
          </a:p>
        </p:txBody>
      </p:sp>
      <p:sp>
        <p:nvSpPr>
          <p:cNvPr id="17436" name="Rectangle 17435">
            <a:extLst>
              <a:ext uri="{FF2B5EF4-FFF2-40B4-BE49-F238E27FC236}">
                <a16:creationId xmlns:a16="http://schemas.microsoft.com/office/drawing/2014/main" id="{F3DE0189-7C88-2668-465B-B02B6F823D05}"/>
              </a:ext>
            </a:extLst>
          </p:cNvPr>
          <p:cNvSpPr/>
          <p:nvPr/>
        </p:nvSpPr>
        <p:spPr>
          <a:xfrm>
            <a:off x="704088" y="1170432"/>
            <a:ext cx="1305763" cy="22860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TextBox 17436">
            <a:extLst>
              <a:ext uri="{FF2B5EF4-FFF2-40B4-BE49-F238E27FC236}">
                <a16:creationId xmlns:a16="http://schemas.microsoft.com/office/drawing/2014/main" id="{12899BFE-BB82-BB5F-EF23-8F006765CCA6}"/>
              </a:ext>
            </a:extLst>
          </p:cNvPr>
          <p:cNvSpPr txBox="1"/>
          <p:nvPr/>
        </p:nvSpPr>
        <p:spPr>
          <a:xfrm>
            <a:off x="566927" y="1318989"/>
            <a:ext cx="1094130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B656F"/>
                </a:solidFill>
                <a:latin typeface="Aptos"/>
              </a:defRPr>
            </a:pPr>
            <a:r>
              <a:rPr sz="1600" b="1" dirty="0"/>
              <a:t>Python • ML / Deep Learning • Computer Vision • React / Next.js • </a:t>
            </a:r>
            <a:r>
              <a:rPr sz="1600" b="1" dirty="0" err="1"/>
              <a:t>FastAPI</a:t>
            </a:r>
            <a:r>
              <a:rPr sz="1600" b="1" dirty="0"/>
              <a:t> • PostgreSQL • Maps &amp; Satellite APIs</a:t>
            </a:r>
          </a:p>
        </p:txBody>
      </p:sp>
      <p:sp>
        <p:nvSpPr>
          <p:cNvPr id="17438" name="Diamond 17437">
            <a:extLst>
              <a:ext uri="{FF2B5EF4-FFF2-40B4-BE49-F238E27FC236}">
                <a16:creationId xmlns:a16="http://schemas.microsoft.com/office/drawing/2014/main" id="{388D056C-CE37-2C07-9489-E24B9825EC6B}"/>
              </a:ext>
            </a:extLst>
          </p:cNvPr>
          <p:cNvSpPr/>
          <p:nvPr/>
        </p:nvSpPr>
        <p:spPr>
          <a:xfrm>
            <a:off x="502920" y="1645920"/>
            <a:ext cx="137160" cy="137160"/>
          </a:xfrm>
          <a:prstGeom prst="diamond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>
            <a:extLst>
              <a:ext uri="{FF2B5EF4-FFF2-40B4-BE49-F238E27FC236}">
                <a16:creationId xmlns:a16="http://schemas.microsoft.com/office/drawing/2014/main" id="{FCA20F06-6FE8-A2CB-2124-E511F53C3662}"/>
              </a:ext>
            </a:extLst>
          </p:cNvPr>
          <p:cNvSpPr txBox="1"/>
          <p:nvPr/>
        </p:nvSpPr>
        <p:spPr>
          <a:xfrm>
            <a:off x="704088" y="1572768"/>
            <a:ext cx="2359151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r>
              <a:rPr dirty="0"/>
              <a:t>INPUT DATA</a:t>
            </a:r>
          </a:p>
        </p:txBody>
      </p:sp>
      <p:sp>
        <p:nvSpPr>
          <p:cNvPr id="17440" name="Rectangle 17439">
            <a:extLst>
              <a:ext uri="{FF2B5EF4-FFF2-40B4-BE49-F238E27FC236}">
                <a16:creationId xmlns:a16="http://schemas.microsoft.com/office/drawing/2014/main" id="{E8750007-484B-60C0-4B80-FAD6F9553B8C}"/>
              </a:ext>
            </a:extLst>
          </p:cNvPr>
          <p:cNvSpPr/>
          <p:nvPr/>
        </p:nvSpPr>
        <p:spPr>
          <a:xfrm>
            <a:off x="704088" y="1938528"/>
            <a:ext cx="621792" cy="22860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Rounded Rectangle 15">
            <a:extLst>
              <a:ext uri="{FF2B5EF4-FFF2-40B4-BE49-F238E27FC236}">
                <a16:creationId xmlns:a16="http://schemas.microsoft.com/office/drawing/2014/main" id="{1E49A60D-4AF1-5CF3-0AA6-91ED2D4BC84A}"/>
              </a:ext>
            </a:extLst>
          </p:cNvPr>
          <p:cNvSpPr/>
          <p:nvPr/>
        </p:nvSpPr>
        <p:spPr>
          <a:xfrm>
            <a:off x="502920" y="1993392"/>
            <a:ext cx="2514600" cy="786384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Rectangle 17441">
            <a:extLst>
              <a:ext uri="{FF2B5EF4-FFF2-40B4-BE49-F238E27FC236}">
                <a16:creationId xmlns:a16="http://schemas.microsoft.com/office/drawing/2014/main" id="{18F65C5D-8860-8938-276E-F60AB020614E}"/>
              </a:ext>
            </a:extLst>
          </p:cNvPr>
          <p:cNvSpPr/>
          <p:nvPr/>
        </p:nvSpPr>
        <p:spPr>
          <a:xfrm>
            <a:off x="502920" y="1993392"/>
            <a:ext cx="64008" cy="786384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3" name="TextBox 17442">
            <a:extLst>
              <a:ext uri="{FF2B5EF4-FFF2-40B4-BE49-F238E27FC236}">
                <a16:creationId xmlns:a16="http://schemas.microsoft.com/office/drawing/2014/main" id="{A5A355F4-AE2B-2C7E-3E4A-081D45872F36}"/>
              </a:ext>
            </a:extLst>
          </p:cNvPr>
          <p:cNvSpPr txBox="1"/>
          <p:nvPr/>
        </p:nvSpPr>
        <p:spPr>
          <a:xfrm>
            <a:off x="667512" y="2040672"/>
            <a:ext cx="22585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SATELLITE</a:t>
            </a:r>
          </a:p>
        </p:txBody>
      </p:sp>
      <p:sp>
        <p:nvSpPr>
          <p:cNvPr id="17444" name="TextBox 17443">
            <a:extLst>
              <a:ext uri="{FF2B5EF4-FFF2-40B4-BE49-F238E27FC236}">
                <a16:creationId xmlns:a16="http://schemas.microsoft.com/office/drawing/2014/main" id="{6A92033A-1940-A291-FC47-64D1E548BAAB}"/>
              </a:ext>
            </a:extLst>
          </p:cNvPr>
          <p:cNvSpPr txBox="1"/>
          <p:nvPr/>
        </p:nvSpPr>
        <p:spPr>
          <a:xfrm>
            <a:off x="640080" y="2297151"/>
            <a:ext cx="22402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INSAT-3D / 3DR • NOAA observations</a:t>
            </a:r>
          </a:p>
        </p:txBody>
      </p:sp>
      <p:sp>
        <p:nvSpPr>
          <p:cNvPr id="17445" name="Rounded Rectangle 19">
            <a:extLst>
              <a:ext uri="{FF2B5EF4-FFF2-40B4-BE49-F238E27FC236}">
                <a16:creationId xmlns:a16="http://schemas.microsoft.com/office/drawing/2014/main" id="{1B3F0601-53F5-C867-F6AB-C1A6526471D9}"/>
              </a:ext>
            </a:extLst>
          </p:cNvPr>
          <p:cNvSpPr/>
          <p:nvPr/>
        </p:nvSpPr>
        <p:spPr>
          <a:xfrm>
            <a:off x="502920" y="2880360"/>
            <a:ext cx="2514600" cy="786384"/>
          </a:xfrm>
          <a:prstGeom prst="roundRect">
            <a:avLst/>
          </a:prstGeom>
          <a:solidFill>
            <a:srgbClr val="F1F9F4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Rectangle 17445">
            <a:extLst>
              <a:ext uri="{FF2B5EF4-FFF2-40B4-BE49-F238E27FC236}">
                <a16:creationId xmlns:a16="http://schemas.microsoft.com/office/drawing/2014/main" id="{62DBB269-F712-717A-0BD8-914B7506AC95}"/>
              </a:ext>
            </a:extLst>
          </p:cNvPr>
          <p:cNvSpPr/>
          <p:nvPr/>
        </p:nvSpPr>
        <p:spPr>
          <a:xfrm>
            <a:off x="502920" y="2880360"/>
            <a:ext cx="64008" cy="786384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7" name="TextBox 17446">
            <a:extLst>
              <a:ext uri="{FF2B5EF4-FFF2-40B4-BE49-F238E27FC236}">
                <a16:creationId xmlns:a16="http://schemas.microsoft.com/office/drawing/2014/main" id="{BFA23A7E-4B1B-E0B0-27C9-4814C93C4A5B}"/>
              </a:ext>
            </a:extLst>
          </p:cNvPr>
          <p:cNvSpPr txBox="1"/>
          <p:nvPr/>
        </p:nvSpPr>
        <p:spPr>
          <a:xfrm>
            <a:off x="667512" y="2927640"/>
            <a:ext cx="22585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WEATHER</a:t>
            </a:r>
          </a:p>
        </p:txBody>
      </p:sp>
      <p:sp>
        <p:nvSpPr>
          <p:cNvPr id="17448" name="TextBox 17447">
            <a:extLst>
              <a:ext uri="{FF2B5EF4-FFF2-40B4-BE49-F238E27FC236}">
                <a16:creationId xmlns:a16="http://schemas.microsoft.com/office/drawing/2014/main" id="{899EA77F-B048-449F-4414-2381E79E33E3}"/>
              </a:ext>
            </a:extLst>
          </p:cNvPr>
          <p:cNvSpPr txBox="1"/>
          <p:nvPr/>
        </p:nvSpPr>
        <p:spPr>
          <a:xfrm>
            <a:off x="667512" y="3176534"/>
            <a:ext cx="22402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Wind • Pressure • Temperature • Humidity</a:t>
            </a:r>
          </a:p>
        </p:txBody>
      </p:sp>
      <p:sp>
        <p:nvSpPr>
          <p:cNvPr id="17449" name="Rounded Rectangle 23">
            <a:extLst>
              <a:ext uri="{FF2B5EF4-FFF2-40B4-BE49-F238E27FC236}">
                <a16:creationId xmlns:a16="http://schemas.microsoft.com/office/drawing/2014/main" id="{576BA083-F612-7235-7111-712BC8492721}"/>
              </a:ext>
            </a:extLst>
          </p:cNvPr>
          <p:cNvSpPr/>
          <p:nvPr/>
        </p:nvSpPr>
        <p:spPr>
          <a:xfrm>
            <a:off x="502920" y="3767328"/>
            <a:ext cx="2514600" cy="786384"/>
          </a:xfrm>
          <a:prstGeom prst="roundRect">
            <a:avLst/>
          </a:prstGeom>
          <a:solidFill>
            <a:srgbClr val="FCF7E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Rectangle 17449">
            <a:extLst>
              <a:ext uri="{FF2B5EF4-FFF2-40B4-BE49-F238E27FC236}">
                <a16:creationId xmlns:a16="http://schemas.microsoft.com/office/drawing/2014/main" id="{94809E14-2BE8-C289-EAE2-E0BD1BEA528C}"/>
              </a:ext>
            </a:extLst>
          </p:cNvPr>
          <p:cNvSpPr/>
          <p:nvPr/>
        </p:nvSpPr>
        <p:spPr>
          <a:xfrm>
            <a:off x="502920" y="3767328"/>
            <a:ext cx="64008" cy="786384"/>
          </a:xfrm>
          <a:prstGeom prst="rect">
            <a:avLst/>
          </a:prstGeom>
          <a:solidFill>
            <a:srgbClr val="E1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1" name="TextBox 17450">
            <a:extLst>
              <a:ext uri="{FF2B5EF4-FFF2-40B4-BE49-F238E27FC236}">
                <a16:creationId xmlns:a16="http://schemas.microsoft.com/office/drawing/2014/main" id="{BD49C3B0-9EC3-72AC-FAC2-948AEC64EAA3}"/>
              </a:ext>
            </a:extLst>
          </p:cNvPr>
          <p:cNvSpPr txBox="1"/>
          <p:nvPr/>
        </p:nvSpPr>
        <p:spPr>
          <a:xfrm>
            <a:off x="667512" y="3814608"/>
            <a:ext cx="22585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OCEAN + HISTORY</a:t>
            </a:r>
          </a:p>
        </p:txBody>
      </p:sp>
      <p:sp>
        <p:nvSpPr>
          <p:cNvPr id="17452" name="TextBox 17451">
            <a:extLst>
              <a:ext uri="{FF2B5EF4-FFF2-40B4-BE49-F238E27FC236}">
                <a16:creationId xmlns:a16="http://schemas.microsoft.com/office/drawing/2014/main" id="{73BFF5E9-CA09-BC2B-9559-F741727BE0E5}"/>
              </a:ext>
            </a:extLst>
          </p:cNvPr>
          <p:cNvSpPr txBox="1"/>
          <p:nvPr/>
        </p:nvSpPr>
        <p:spPr>
          <a:xfrm>
            <a:off x="667512" y="4063502"/>
            <a:ext cx="22402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SST • Ocean data • IMD / IBTrACS</a:t>
            </a:r>
          </a:p>
        </p:txBody>
      </p:sp>
      <p:sp>
        <p:nvSpPr>
          <p:cNvPr id="17453" name="Diamond 17452">
            <a:extLst>
              <a:ext uri="{FF2B5EF4-FFF2-40B4-BE49-F238E27FC236}">
                <a16:creationId xmlns:a16="http://schemas.microsoft.com/office/drawing/2014/main" id="{F618C1A4-7CA7-BC1D-4156-4DD3DC4D918B}"/>
              </a:ext>
            </a:extLst>
          </p:cNvPr>
          <p:cNvSpPr/>
          <p:nvPr/>
        </p:nvSpPr>
        <p:spPr>
          <a:xfrm>
            <a:off x="3337560" y="1645920"/>
            <a:ext cx="137160" cy="137160"/>
          </a:xfrm>
          <a:prstGeom prst="diamond">
            <a:avLst/>
          </a:prstGeom>
          <a:solidFill>
            <a:srgbClr val="674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>
            <a:extLst>
              <a:ext uri="{FF2B5EF4-FFF2-40B4-BE49-F238E27FC236}">
                <a16:creationId xmlns:a16="http://schemas.microsoft.com/office/drawing/2014/main" id="{EA57E808-9AE7-200A-923C-70F56DF326BC}"/>
              </a:ext>
            </a:extLst>
          </p:cNvPr>
          <p:cNvSpPr txBox="1"/>
          <p:nvPr/>
        </p:nvSpPr>
        <p:spPr>
          <a:xfrm>
            <a:off x="3538728" y="1572768"/>
            <a:ext cx="36393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r>
              <a:t>AI/ML PIPELINE</a:t>
            </a:r>
          </a:p>
        </p:txBody>
      </p:sp>
      <p:sp>
        <p:nvSpPr>
          <p:cNvPr id="17455" name="Rectangle 17454">
            <a:extLst>
              <a:ext uri="{FF2B5EF4-FFF2-40B4-BE49-F238E27FC236}">
                <a16:creationId xmlns:a16="http://schemas.microsoft.com/office/drawing/2014/main" id="{96D8CBA7-A3B3-9889-756D-ACDA688877BD}"/>
              </a:ext>
            </a:extLst>
          </p:cNvPr>
          <p:cNvSpPr/>
          <p:nvPr/>
        </p:nvSpPr>
        <p:spPr>
          <a:xfrm>
            <a:off x="3538728" y="1938528"/>
            <a:ext cx="870508" cy="22860"/>
          </a:xfrm>
          <a:prstGeom prst="rect">
            <a:avLst/>
          </a:prstGeom>
          <a:solidFill>
            <a:srgbClr val="674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6" name="Rounded Rectangle 30">
            <a:extLst>
              <a:ext uri="{FF2B5EF4-FFF2-40B4-BE49-F238E27FC236}">
                <a16:creationId xmlns:a16="http://schemas.microsoft.com/office/drawing/2014/main" id="{59DB46B1-A15D-538E-65C3-683CA9D3A766}"/>
              </a:ext>
            </a:extLst>
          </p:cNvPr>
          <p:cNvSpPr/>
          <p:nvPr/>
        </p:nvSpPr>
        <p:spPr>
          <a:xfrm>
            <a:off x="3337560" y="1975104"/>
            <a:ext cx="3794760" cy="548640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Rectangle 17456">
            <a:extLst>
              <a:ext uri="{FF2B5EF4-FFF2-40B4-BE49-F238E27FC236}">
                <a16:creationId xmlns:a16="http://schemas.microsoft.com/office/drawing/2014/main" id="{7C275A15-3A5F-6011-7525-8D0F104E8428}"/>
              </a:ext>
            </a:extLst>
          </p:cNvPr>
          <p:cNvSpPr/>
          <p:nvPr/>
        </p:nvSpPr>
        <p:spPr>
          <a:xfrm>
            <a:off x="3337560" y="1975104"/>
            <a:ext cx="64008" cy="548640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TextBox 17457">
            <a:extLst>
              <a:ext uri="{FF2B5EF4-FFF2-40B4-BE49-F238E27FC236}">
                <a16:creationId xmlns:a16="http://schemas.microsoft.com/office/drawing/2014/main" id="{2FB51D3C-3E84-13FB-D878-30278251AFE5}"/>
              </a:ext>
            </a:extLst>
          </p:cNvPr>
          <p:cNvSpPr txBox="1"/>
          <p:nvPr/>
        </p:nvSpPr>
        <p:spPr>
          <a:xfrm>
            <a:off x="3493008" y="1992699"/>
            <a:ext cx="353872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lang="en-IN" sz="1400" dirty="0"/>
              <a:t>PREPROCESS</a:t>
            </a:r>
          </a:p>
        </p:txBody>
      </p:sp>
      <p:sp>
        <p:nvSpPr>
          <p:cNvPr id="17459" name="TextBox 17458">
            <a:extLst>
              <a:ext uri="{FF2B5EF4-FFF2-40B4-BE49-F238E27FC236}">
                <a16:creationId xmlns:a16="http://schemas.microsoft.com/office/drawing/2014/main" id="{BD73AA40-645A-9ADE-33F1-A2D76DEAC17D}"/>
              </a:ext>
            </a:extLst>
          </p:cNvPr>
          <p:cNvSpPr txBox="1"/>
          <p:nvPr/>
        </p:nvSpPr>
        <p:spPr>
          <a:xfrm>
            <a:off x="3493008" y="2240983"/>
            <a:ext cx="3520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Clean + normalize</a:t>
            </a:r>
          </a:p>
        </p:txBody>
      </p:sp>
      <p:cxnSp>
        <p:nvCxnSpPr>
          <p:cNvPr id="17460" name="Connector 34">
            <a:extLst>
              <a:ext uri="{FF2B5EF4-FFF2-40B4-BE49-F238E27FC236}">
                <a16:creationId xmlns:a16="http://schemas.microsoft.com/office/drawing/2014/main" id="{ACD5DAFC-6BEA-1D99-8B55-DC99CA7F14E2}"/>
              </a:ext>
            </a:extLst>
          </p:cNvPr>
          <p:cNvCxnSpPr/>
          <p:nvPr/>
        </p:nvCxnSpPr>
        <p:spPr>
          <a:xfrm>
            <a:off x="5230368" y="2532888"/>
            <a:ext cx="0" cy="109728"/>
          </a:xfrm>
          <a:prstGeom prst="line">
            <a:avLst/>
          </a:prstGeom>
          <a:ln w="25400">
            <a:solidFill>
              <a:srgbClr val="127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1" name="Rounded Rectangle 35">
            <a:extLst>
              <a:ext uri="{FF2B5EF4-FFF2-40B4-BE49-F238E27FC236}">
                <a16:creationId xmlns:a16="http://schemas.microsoft.com/office/drawing/2014/main" id="{2E81F222-7C11-D50A-5A7F-1E7C4D6170B1}"/>
              </a:ext>
            </a:extLst>
          </p:cNvPr>
          <p:cNvSpPr/>
          <p:nvPr/>
        </p:nvSpPr>
        <p:spPr>
          <a:xfrm>
            <a:off x="3337560" y="2615184"/>
            <a:ext cx="3794760" cy="548640"/>
          </a:xfrm>
          <a:prstGeom prst="roundRect">
            <a:avLst/>
          </a:prstGeom>
          <a:solidFill>
            <a:srgbClr val="F1F9F4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Rectangle 17461">
            <a:extLst>
              <a:ext uri="{FF2B5EF4-FFF2-40B4-BE49-F238E27FC236}">
                <a16:creationId xmlns:a16="http://schemas.microsoft.com/office/drawing/2014/main" id="{07BBC73B-59EC-C428-AD6A-AFAE766D4063}"/>
              </a:ext>
            </a:extLst>
          </p:cNvPr>
          <p:cNvSpPr/>
          <p:nvPr/>
        </p:nvSpPr>
        <p:spPr>
          <a:xfrm>
            <a:off x="3337560" y="2615184"/>
            <a:ext cx="64008" cy="548640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3" name="TextBox 17462">
            <a:extLst>
              <a:ext uri="{FF2B5EF4-FFF2-40B4-BE49-F238E27FC236}">
                <a16:creationId xmlns:a16="http://schemas.microsoft.com/office/drawing/2014/main" id="{079C7843-F810-FCF0-8B80-A140CB645763}"/>
              </a:ext>
            </a:extLst>
          </p:cNvPr>
          <p:cNvSpPr txBox="1"/>
          <p:nvPr/>
        </p:nvSpPr>
        <p:spPr>
          <a:xfrm>
            <a:off x="3502152" y="2662464"/>
            <a:ext cx="353872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FEATURE EXTRACTION</a:t>
            </a:r>
          </a:p>
        </p:txBody>
      </p:sp>
      <p:sp>
        <p:nvSpPr>
          <p:cNvPr id="17464" name="TextBox 17463">
            <a:extLst>
              <a:ext uri="{FF2B5EF4-FFF2-40B4-BE49-F238E27FC236}">
                <a16:creationId xmlns:a16="http://schemas.microsoft.com/office/drawing/2014/main" id="{99190786-7FEE-2EFD-7649-2CFD7E7FBE5A}"/>
              </a:ext>
            </a:extLst>
          </p:cNvPr>
          <p:cNvSpPr txBox="1"/>
          <p:nvPr/>
        </p:nvSpPr>
        <p:spPr>
          <a:xfrm>
            <a:off x="3502152" y="2900208"/>
            <a:ext cx="3520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Image + numerical features</a:t>
            </a:r>
          </a:p>
        </p:txBody>
      </p:sp>
      <p:cxnSp>
        <p:nvCxnSpPr>
          <p:cNvPr id="17465" name="Connector 39">
            <a:extLst>
              <a:ext uri="{FF2B5EF4-FFF2-40B4-BE49-F238E27FC236}">
                <a16:creationId xmlns:a16="http://schemas.microsoft.com/office/drawing/2014/main" id="{957CF30D-A798-19F2-6D21-301C2769BF76}"/>
              </a:ext>
            </a:extLst>
          </p:cNvPr>
          <p:cNvCxnSpPr/>
          <p:nvPr/>
        </p:nvCxnSpPr>
        <p:spPr>
          <a:xfrm>
            <a:off x="5230368" y="3172968"/>
            <a:ext cx="0" cy="109728"/>
          </a:xfrm>
          <a:prstGeom prst="line">
            <a:avLst/>
          </a:prstGeom>
          <a:ln w="25400">
            <a:solidFill>
              <a:srgbClr val="338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6" name="Rounded Rectangle 40">
            <a:extLst>
              <a:ext uri="{FF2B5EF4-FFF2-40B4-BE49-F238E27FC236}">
                <a16:creationId xmlns:a16="http://schemas.microsoft.com/office/drawing/2014/main" id="{7D9576D4-E50B-ADD9-0D85-E0849134C690}"/>
              </a:ext>
            </a:extLst>
          </p:cNvPr>
          <p:cNvSpPr/>
          <p:nvPr/>
        </p:nvSpPr>
        <p:spPr>
          <a:xfrm>
            <a:off x="3337560" y="3255264"/>
            <a:ext cx="3794760" cy="548640"/>
          </a:xfrm>
          <a:prstGeom prst="roundRect">
            <a:avLst/>
          </a:prstGeom>
          <a:solidFill>
            <a:srgbClr val="FCF7E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7" name="Rectangle 17466">
            <a:extLst>
              <a:ext uri="{FF2B5EF4-FFF2-40B4-BE49-F238E27FC236}">
                <a16:creationId xmlns:a16="http://schemas.microsoft.com/office/drawing/2014/main" id="{AEDBE95E-8CA8-295F-900E-E62D2C037A33}"/>
              </a:ext>
            </a:extLst>
          </p:cNvPr>
          <p:cNvSpPr/>
          <p:nvPr/>
        </p:nvSpPr>
        <p:spPr>
          <a:xfrm>
            <a:off x="3337560" y="3255264"/>
            <a:ext cx="64008" cy="548640"/>
          </a:xfrm>
          <a:prstGeom prst="rect">
            <a:avLst/>
          </a:prstGeom>
          <a:solidFill>
            <a:srgbClr val="E1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8" name="TextBox 17467">
            <a:extLst>
              <a:ext uri="{FF2B5EF4-FFF2-40B4-BE49-F238E27FC236}">
                <a16:creationId xmlns:a16="http://schemas.microsoft.com/office/drawing/2014/main" id="{9749336E-0EE1-001A-F840-E2C9927746C6}"/>
              </a:ext>
            </a:extLst>
          </p:cNvPr>
          <p:cNvSpPr txBox="1"/>
          <p:nvPr/>
        </p:nvSpPr>
        <p:spPr>
          <a:xfrm>
            <a:off x="3502152" y="3302544"/>
            <a:ext cx="353872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DATA FUSION</a:t>
            </a:r>
          </a:p>
        </p:txBody>
      </p:sp>
      <p:sp>
        <p:nvSpPr>
          <p:cNvPr id="17469" name="TextBox 17468">
            <a:extLst>
              <a:ext uri="{FF2B5EF4-FFF2-40B4-BE49-F238E27FC236}">
                <a16:creationId xmlns:a16="http://schemas.microsoft.com/office/drawing/2014/main" id="{1FA6CA31-B821-E387-82B7-374211BD5098}"/>
              </a:ext>
            </a:extLst>
          </p:cNvPr>
          <p:cNvSpPr txBox="1"/>
          <p:nvPr/>
        </p:nvSpPr>
        <p:spPr>
          <a:xfrm>
            <a:off x="3511296" y="3531144"/>
            <a:ext cx="3520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Combine sources</a:t>
            </a:r>
          </a:p>
        </p:txBody>
      </p:sp>
      <p:cxnSp>
        <p:nvCxnSpPr>
          <p:cNvPr id="17470" name="Connector 44">
            <a:extLst>
              <a:ext uri="{FF2B5EF4-FFF2-40B4-BE49-F238E27FC236}">
                <a16:creationId xmlns:a16="http://schemas.microsoft.com/office/drawing/2014/main" id="{1885C52E-394B-97F3-FE9F-CE0EE8257E9E}"/>
              </a:ext>
            </a:extLst>
          </p:cNvPr>
          <p:cNvCxnSpPr/>
          <p:nvPr/>
        </p:nvCxnSpPr>
        <p:spPr>
          <a:xfrm>
            <a:off x="5230368" y="3813048"/>
            <a:ext cx="0" cy="109728"/>
          </a:xfrm>
          <a:prstGeom prst="line">
            <a:avLst/>
          </a:prstGeom>
          <a:ln w="25400">
            <a:solidFill>
              <a:srgbClr val="E185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1" name="Rounded Rectangle 45">
            <a:extLst>
              <a:ext uri="{FF2B5EF4-FFF2-40B4-BE49-F238E27FC236}">
                <a16:creationId xmlns:a16="http://schemas.microsoft.com/office/drawing/2014/main" id="{9199C1CF-6650-6CD9-5635-10CBAF698630}"/>
              </a:ext>
            </a:extLst>
          </p:cNvPr>
          <p:cNvSpPr/>
          <p:nvPr/>
        </p:nvSpPr>
        <p:spPr>
          <a:xfrm>
            <a:off x="3337560" y="3895344"/>
            <a:ext cx="3794760" cy="548640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2" name="Rectangle 17471">
            <a:extLst>
              <a:ext uri="{FF2B5EF4-FFF2-40B4-BE49-F238E27FC236}">
                <a16:creationId xmlns:a16="http://schemas.microsoft.com/office/drawing/2014/main" id="{A9CE84BF-D70C-4DEB-77E7-2F2CD7F98373}"/>
              </a:ext>
            </a:extLst>
          </p:cNvPr>
          <p:cNvSpPr/>
          <p:nvPr/>
        </p:nvSpPr>
        <p:spPr>
          <a:xfrm>
            <a:off x="3337560" y="3895344"/>
            <a:ext cx="64008" cy="548640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3" name="TextBox 17472">
            <a:extLst>
              <a:ext uri="{FF2B5EF4-FFF2-40B4-BE49-F238E27FC236}">
                <a16:creationId xmlns:a16="http://schemas.microsoft.com/office/drawing/2014/main" id="{D210B583-0891-1B66-1675-8A1064C84602}"/>
              </a:ext>
            </a:extLst>
          </p:cNvPr>
          <p:cNvSpPr txBox="1"/>
          <p:nvPr/>
        </p:nvSpPr>
        <p:spPr>
          <a:xfrm>
            <a:off x="3502152" y="3942624"/>
            <a:ext cx="353872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DETECTION</a:t>
            </a:r>
          </a:p>
        </p:txBody>
      </p:sp>
      <p:sp>
        <p:nvSpPr>
          <p:cNvPr id="17474" name="TextBox 17473">
            <a:extLst>
              <a:ext uri="{FF2B5EF4-FFF2-40B4-BE49-F238E27FC236}">
                <a16:creationId xmlns:a16="http://schemas.microsoft.com/office/drawing/2014/main" id="{AFF213B7-3A18-7DF8-877B-5196D93589C7}"/>
              </a:ext>
            </a:extLst>
          </p:cNvPr>
          <p:cNvSpPr txBox="1"/>
          <p:nvPr/>
        </p:nvSpPr>
        <p:spPr>
          <a:xfrm>
            <a:off x="3502152" y="4180368"/>
            <a:ext cx="3520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Cyclone present?</a:t>
            </a:r>
          </a:p>
        </p:txBody>
      </p:sp>
      <p:cxnSp>
        <p:nvCxnSpPr>
          <p:cNvPr id="17475" name="Connector 49">
            <a:extLst>
              <a:ext uri="{FF2B5EF4-FFF2-40B4-BE49-F238E27FC236}">
                <a16:creationId xmlns:a16="http://schemas.microsoft.com/office/drawing/2014/main" id="{888AA396-700E-9483-D8F6-0D76675F768F}"/>
              </a:ext>
            </a:extLst>
          </p:cNvPr>
          <p:cNvCxnSpPr/>
          <p:nvPr/>
        </p:nvCxnSpPr>
        <p:spPr>
          <a:xfrm>
            <a:off x="5230368" y="4453128"/>
            <a:ext cx="0" cy="109728"/>
          </a:xfrm>
          <a:prstGeom prst="line">
            <a:avLst/>
          </a:prstGeom>
          <a:ln w="25400">
            <a:solidFill>
              <a:srgbClr val="127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6" name="Rounded Rectangle 50">
            <a:extLst>
              <a:ext uri="{FF2B5EF4-FFF2-40B4-BE49-F238E27FC236}">
                <a16:creationId xmlns:a16="http://schemas.microsoft.com/office/drawing/2014/main" id="{D27B7C3D-DE1E-45CB-A108-50FA96572FB0}"/>
              </a:ext>
            </a:extLst>
          </p:cNvPr>
          <p:cNvSpPr/>
          <p:nvPr/>
        </p:nvSpPr>
        <p:spPr>
          <a:xfrm>
            <a:off x="3337560" y="4535424"/>
            <a:ext cx="3794760" cy="548640"/>
          </a:xfrm>
          <a:prstGeom prst="roundRect">
            <a:avLst/>
          </a:prstGeom>
          <a:solidFill>
            <a:srgbClr val="F7F3FC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7" name="Rectangle 17476">
            <a:extLst>
              <a:ext uri="{FF2B5EF4-FFF2-40B4-BE49-F238E27FC236}">
                <a16:creationId xmlns:a16="http://schemas.microsoft.com/office/drawing/2014/main" id="{FAE5CCEA-D9CC-1E59-DCDF-618599491B9D}"/>
              </a:ext>
            </a:extLst>
          </p:cNvPr>
          <p:cNvSpPr/>
          <p:nvPr/>
        </p:nvSpPr>
        <p:spPr>
          <a:xfrm>
            <a:off x="3337560" y="4535424"/>
            <a:ext cx="64008" cy="548640"/>
          </a:xfrm>
          <a:prstGeom prst="rect">
            <a:avLst/>
          </a:prstGeom>
          <a:solidFill>
            <a:srgbClr val="674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8" name="TextBox 17477">
            <a:extLst>
              <a:ext uri="{FF2B5EF4-FFF2-40B4-BE49-F238E27FC236}">
                <a16:creationId xmlns:a16="http://schemas.microsoft.com/office/drawing/2014/main" id="{E8EE104C-8D90-F275-F806-570852DF66FA}"/>
              </a:ext>
            </a:extLst>
          </p:cNvPr>
          <p:cNvSpPr txBox="1"/>
          <p:nvPr/>
        </p:nvSpPr>
        <p:spPr>
          <a:xfrm>
            <a:off x="3502152" y="4582704"/>
            <a:ext cx="353872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CLASSIFICATION</a:t>
            </a:r>
          </a:p>
        </p:txBody>
      </p:sp>
      <p:sp>
        <p:nvSpPr>
          <p:cNvPr id="17479" name="TextBox 17478">
            <a:extLst>
              <a:ext uri="{FF2B5EF4-FFF2-40B4-BE49-F238E27FC236}">
                <a16:creationId xmlns:a16="http://schemas.microsoft.com/office/drawing/2014/main" id="{7652D420-0512-659F-2783-FD6DE72F0645}"/>
              </a:ext>
            </a:extLst>
          </p:cNvPr>
          <p:cNvSpPr txBox="1"/>
          <p:nvPr/>
        </p:nvSpPr>
        <p:spPr>
          <a:xfrm>
            <a:off x="3502152" y="4820448"/>
            <a:ext cx="3520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Category / intensity</a:t>
            </a:r>
          </a:p>
        </p:txBody>
      </p:sp>
      <p:cxnSp>
        <p:nvCxnSpPr>
          <p:cNvPr id="17480" name="Connector 54">
            <a:extLst>
              <a:ext uri="{FF2B5EF4-FFF2-40B4-BE49-F238E27FC236}">
                <a16:creationId xmlns:a16="http://schemas.microsoft.com/office/drawing/2014/main" id="{1E4CEFCC-9985-E9BA-8712-799F6876E15C}"/>
              </a:ext>
            </a:extLst>
          </p:cNvPr>
          <p:cNvCxnSpPr/>
          <p:nvPr/>
        </p:nvCxnSpPr>
        <p:spPr>
          <a:xfrm>
            <a:off x="5230368" y="5093208"/>
            <a:ext cx="0" cy="109728"/>
          </a:xfrm>
          <a:prstGeom prst="line">
            <a:avLst/>
          </a:prstGeom>
          <a:ln w="25400">
            <a:solidFill>
              <a:srgbClr val="674D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1" name="Rounded Rectangle 55">
            <a:extLst>
              <a:ext uri="{FF2B5EF4-FFF2-40B4-BE49-F238E27FC236}">
                <a16:creationId xmlns:a16="http://schemas.microsoft.com/office/drawing/2014/main" id="{99E88208-732E-BC86-97F6-E80843C8FC68}"/>
              </a:ext>
            </a:extLst>
          </p:cNvPr>
          <p:cNvSpPr/>
          <p:nvPr/>
        </p:nvSpPr>
        <p:spPr>
          <a:xfrm>
            <a:off x="3337560" y="5175504"/>
            <a:ext cx="3794760" cy="548640"/>
          </a:xfrm>
          <a:prstGeom prst="roundRect">
            <a:avLst/>
          </a:prstGeom>
          <a:solidFill>
            <a:srgbClr val="FDF2F2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2" name="Rectangle 17481">
            <a:extLst>
              <a:ext uri="{FF2B5EF4-FFF2-40B4-BE49-F238E27FC236}">
                <a16:creationId xmlns:a16="http://schemas.microsoft.com/office/drawing/2014/main" id="{D82D7023-0C0E-5358-E054-6E03B8356631}"/>
              </a:ext>
            </a:extLst>
          </p:cNvPr>
          <p:cNvSpPr/>
          <p:nvPr/>
        </p:nvSpPr>
        <p:spPr>
          <a:xfrm>
            <a:off x="3337560" y="5175504"/>
            <a:ext cx="64008" cy="548640"/>
          </a:xfrm>
          <a:prstGeom prst="rect">
            <a:avLst/>
          </a:prstGeom>
          <a:solidFill>
            <a:srgbClr val="C2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3" name="TextBox 17482">
            <a:extLst>
              <a:ext uri="{FF2B5EF4-FFF2-40B4-BE49-F238E27FC236}">
                <a16:creationId xmlns:a16="http://schemas.microsoft.com/office/drawing/2014/main" id="{6CC89E84-D595-4187-5762-74910132481C}"/>
              </a:ext>
            </a:extLst>
          </p:cNvPr>
          <p:cNvSpPr txBox="1"/>
          <p:nvPr/>
        </p:nvSpPr>
        <p:spPr>
          <a:xfrm>
            <a:off x="3502152" y="5222784"/>
            <a:ext cx="353872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TRACK + INTENSITY</a:t>
            </a:r>
          </a:p>
        </p:txBody>
      </p:sp>
      <p:sp>
        <p:nvSpPr>
          <p:cNvPr id="17484" name="TextBox 17483">
            <a:extLst>
              <a:ext uri="{FF2B5EF4-FFF2-40B4-BE49-F238E27FC236}">
                <a16:creationId xmlns:a16="http://schemas.microsoft.com/office/drawing/2014/main" id="{30834E48-15CB-8A01-0E6E-EDECB426B408}"/>
              </a:ext>
            </a:extLst>
          </p:cNvPr>
          <p:cNvSpPr txBox="1"/>
          <p:nvPr/>
        </p:nvSpPr>
        <p:spPr>
          <a:xfrm>
            <a:off x="3502152" y="5460528"/>
            <a:ext cx="3520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Future path + strength</a:t>
            </a:r>
          </a:p>
        </p:txBody>
      </p:sp>
      <p:sp>
        <p:nvSpPr>
          <p:cNvPr id="17485" name="Diamond 17484">
            <a:extLst>
              <a:ext uri="{FF2B5EF4-FFF2-40B4-BE49-F238E27FC236}">
                <a16:creationId xmlns:a16="http://schemas.microsoft.com/office/drawing/2014/main" id="{27D2772D-59CD-28BB-C837-216C3D4CF1BB}"/>
              </a:ext>
            </a:extLst>
          </p:cNvPr>
          <p:cNvSpPr/>
          <p:nvPr/>
        </p:nvSpPr>
        <p:spPr>
          <a:xfrm>
            <a:off x="7543800" y="1645920"/>
            <a:ext cx="137160" cy="137160"/>
          </a:xfrm>
          <a:prstGeom prst="diamond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6" name="TextBox 17485">
            <a:extLst>
              <a:ext uri="{FF2B5EF4-FFF2-40B4-BE49-F238E27FC236}">
                <a16:creationId xmlns:a16="http://schemas.microsoft.com/office/drawing/2014/main" id="{6C7C11E8-842F-0CD9-DD2B-BB5B6A4354F6}"/>
              </a:ext>
            </a:extLst>
          </p:cNvPr>
          <p:cNvSpPr txBox="1"/>
          <p:nvPr/>
        </p:nvSpPr>
        <p:spPr>
          <a:xfrm>
            <a:off x="7744968" y="1572768"/>
            <a:ext cx="3867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r>
              <a:t>OUTPUT LAYER</a:t>
            </a:r>
          </a:p>
        </p:txBody>
      </p:sp>
      <p:sp>
        <p:nvSpPr>
          <p:cNvPr id="17487" name="Rectangle 17486">
            <a:extLst>
              <a:ext uri="{FF2B5EF4-FFF2-40B4-BE49-F238E27FC236}">
                <a16:creationId xmlns:a16="http://schemas.microsoft.com/office/drawing/2014/main" id="{2350B2EF-A365-32B0-A26F-77775901E7FD}"/>
              </a:ext>
            </a:extLst>
          </p:cNvPr>
          <p:cNvSpPr/>
          <p:nvPr/>
        </p:nvSpPr>
        <p:spPr>
          <a:xfrm>
            <a:off x="7744968" y="1938528"/>
            <a:ext cx="746150" cy="22860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8" name="Rounded Rectangle 62">
            <a:extLst>
              <a:ext uri="{FF2B5EF4-FFF2-40B4-BE49-F238E27FC236}">
                <a16:creationId xmlns:a16="http://schemas.microsoft.com/office/drawing/2014/main" id="{16544AF5-66BA-39E0-4F1D-0E614353969B}"/>
              </a:ext>
            </a:extLst>
          </p:cNvPr>
          <p:cNvSpPr/>
          <p:nvPr/>
        </p:nvSpPr>
        <p:spPr>
          <a:xfrm>
            <a:off x="7543800" y="1993392"/>
            <a:ext cx="4069080" cy="713232"/>
          </a:xfrm>
          <a:prstGeom prst="roundRect">
            <a:avLst/>
          </a:prstGeom>
          <a:solidFill>
            <a:srgbClr val="FDF2F2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9" name="Rectangle 17488">
            <a:extLst>
              <a:ext uri="{FF2B5EF4-FFF2-40B4-BE49-F238E27FC236}">
                <a16:creationId xmlns:a16="http://schemas.microsoft.com/office/drawing/2014/main" id="{05A0EC12-A2F1-5A8D-6CDD-4FBAB8D2DFFC}"/>
              </a:ext>
            </a:extLst>
          </p:cNvPr>
          <p:cNvSpPr/>
          <p:nvPr/>
        </p:nvSpPr>
        <p:spPr>
          <a:xfrm>
            <a:off x="7543800" y="1993392"/>
            <a:ext cx="64008" cy="713232"/>
          </a:xfrm>
          <a:prstGeom prst="rect">
            <a:avLst/>
          </a:prstGeom>
          <a:solidFill>
            <a:srgbClr val="C2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0" name="TextBox 17489">
            <a:extLst>
              <a:ext uri="{FF2B5EF4-FFF2-40B4-BE49-F238E27FC236}">
                <a16:creationId xmlns:a16="http://schemas.microsoft.com/office/drawing/2014/main" id="{153BD05A-BE29-E331-F435-C4CF8BA0758F}"/>
              </a:ext>
            </a:extLst>
          </p:cNvPr>
          <p:cNvSpPr txBox="1"/>
          <p:nvPr/>
        </p:nvSpPr>
        <p:spPr>
          <a:xfrm>
            <a:off x="7708392" y="2040672"/>
            <a:ext cx="381304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LOCATION RISK</a:t>
            </a:r>
          </a:p>
        </p:txBody>
      </p:sp>
      <p:sp>
        <p:nvSpPr>
          <p:cNvPr id="17491" name="TextBox 17490">
            <a:extLst>
              <a:ext uri="{FF2B5EF4-FFF2-40B4-BE49-F238E27FC236}">
                <a16:creationId xmlns:a16="http://schemas.microsoft.com/office/drawing/2014/main" id="{82EA72C8-A7CD-BAC0-04CC-EB2A070A7E7D}"/>
              </a:ext>
            </a:extLst>
          </p:cNvPr>
          <p:cNvSpPr txBox="1"/>
          <p:nvPr/>
        </p:nvSpPr>
        <p:spPr>
          <a:xfrm>
            <a:off x="7708392" y="2360712"/>
            <a:ext cx="3794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Impact radius • storm surge • heavy rain • wind</a:t>
            </a:r>
          </a:p>
        </p:txBody>
      </p:sp>
      <p:sp>
        <p:nvSpPr>
          <p:cNvPr id="17492" name="Rounded Rectangle 66">
            <a:extLst>
              <a:ext uri="{FF2B5EF4-FFF2-40B4-BE49-F238E27FC236}">
                <a16:creationId xmlns:a16="http://schemas.microsoft.com/office/drawing/2014/main" id="{CB357788-867A-D8B3-7082-7517A72ED134}"/>
              </a:ext>
            </a:extLst>
          </p:cNvPr>
          <p:cNvSpPr/>
          <p:nvPr/>
        </p:nvSpPr>
        <p:spPr>
          <a:xfrm>
            <a:off x="7580376" y="2825496"/>
            <a:ext cx="4069080" cy="713232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3" name="Rectangle 17492">
            <a:extLst>
              <a:ext uri="{FF2B5EF4-FFF2-40B4-BE49-F238E27FC236}">
                <a16:creationId xmlns:a16="http://schemas.microsoft.com/office/drawing/2014/main" id="{072C179B-59D7-45A2-F07D-970FCF8F39A6}"/>
              </a:ext>
            </a:extLst>
          </p:cNvPr>
          <p:cNvSpPr/>
          <p:nvPr/>
        </p:nvSpPr>
        <p:spPr>
          <a:xfrm>
            <a:off x="7543800" y="2816352"/>
            <a:ext cx="64008" cy="713232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4" name="TextBox 17493">
            <a:extLst>
              <a:ext uri="{FF2B5EF4-FFF2-40B4-BE49-F238E27FC236}">
                <a16:creationId xmlns:a16="http://schemas.microsoft.com/office/drawing/2014/main" id="{F68CE494-72CC-A129-5262-760A13FF0B45}"/>
              </a:ext>
            </a:extLst>
          </p:cNvPr>
          <p:cNvSpPr txBox="1"/>
          <p:nvPr/>
        </p:nvSpPr>
        <p:spPr>
          <a:xfrm>
            <a:off x="7708392" y="2863632"/>
            <a:ext cx="381304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INTERACTIVE MAP</a:t>
            </a:r>
          </a:p>
        </p:txBody>
      </p:sp>
      <p:sp>
        <p:nvSpPr>
          <p:cNvPr id="17495" name="TextBox 17494">
            <a:extLst>
              <a:ext uri="{FF2B5EF4-FFF2-40B4-BE49-F238E27FC236}">
                <a16:creationId xmlns:a16="http://schemas.microsoft.com/office/drawing/2014/main" id="{75BC6EBF-F207-600B-0F06-14033EA4F22D}"/>
              </a:ext>
            </a:extLst>
          </p:cNvPr>
          <p:cNvSpPr txBox="1"/>
          <p:nvPr/>
        </p:nvSpPr>
        <p:spPr>
          <a:xfrm>
            <a:off x="7708392" y="3183672"/>
            <a:ext cx="3794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Satellite observation + predicted track</a:t>
            </a:r>
          </a:p>
        </p:txBody>
      </p:sp>
      <p:sp>
        <p:nvSpPr>
          <p:cNvPr id="17496" name="Rounded Rectangle 70">
            <a:extLst>
              <a:ext uri="{FF2B5EF4-FFF2-40B4-BE49-F238E27FC236}">
                <a16:creationId xmlns:a16="http://schemas.microsoft.com/office/drawing/2014/main" id="{72671C5E-0663-30A1-B7E7-8CBF7A54AC62}"/>
              </a:ext>
            </a:extLst>
          </p:cNvPr>
          <p:cNvSpPr/>
          <p:nvPr/>
        </p:nvSpPr>
        <p:spPr>
          <a:xfrm>
            <a:off x="7543800" y="3639312"/>
            <a:ext cx="4069080" cy="713232"/>
          </a:xfrm>
          <a:prstGeom prst="roundRect">
            <a:avLst/>
          </a:prstGeom>
          <a:solidFill>
            <a:srgbClr val="FCF7E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7" name="Rectangle 17496">
            <a:extLst>
              <a:ext uri="{FF2B5EF4-FFF2-40B4-BE49-F238E27FC236}">
                <a16:creationId xmlns:a16="http://schemas.microsoft.com/office/drawing/2014/main" id="{22B44F74-03E7-0F42-F924-D4443B9709AA}"/>
              </a:ext>
            </a:extLst>
          </p:cNvPr>
          <p:cNvSpPr/>
          <p:nvPr/>
        </p:nvSpPr>
        <p:spPr>
          <a:xfrm>
            <a:off x="7543800" y="3639312"/>
            <a:ext cx="64008" cy="713232"/>
          </a:xfrm>
          <a:prstGeom prst="rect">
            <a:avLst/>
          </a:prstGeom>
          <a:solidFill>
            <a:srgbClr val="E1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8" name="TextBox 17497">
            <a:extLst>
              <a:ext uri="{FF2B5EF4-FFF2-40B4-BE49-F238E27FC236}">
                <a16:creationId xmlns:a16="http://schemas.microsoft.com/office/drawing/2014/main" id="{BCF291A6-12CB-BF11-F91C-6A44BC430738}"/>
              </a:ext>
            </a:extLst>
          </p:cNvPr>
          <p:cNvSpPr txBox="1"/>
          <p:nvPr/>
        </p:nvSpPr>
        <p:spPr>
          <a:xfrm>
            <a:off x="7708392" y="3686592"/>
            <a:ext cx="381304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SMART ALERTS</a:t>
            </a:r>
          </a:p>
        </p:txBody>
      </p:sp>
      <p:sp>
        <p:nvSpPr>
          <p:cNvPr id="17499" name="TextBox 17498">
            <a:extLst>
              <a:ext uri="{FF2B5EF4-FFF2-40B4-BE49-F238E27FC236}">
                <a16:creationId xmlns:a16="http://schemas.microsoft.com/office/drawing/2014/main" id="{C78B1BA9-BF98-76F1-77BA-5951154C3DAC}"/>
              </a:ext>
            </a:extLst>
          </p:cNvPr>
          <p:cNvSpPr txBox="1"/>
          <p:nvPr/>
        </p:nvSpPr>
        <p:spPr>
          <a:xfrm>
            <a:off x="7708392" y="4006632"/>
            <a:ext cx="3794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Timely location-based warnings</a:t>
            </a:r>
          </a:p>
        </p:txBody>
      </p:sp>
      <p:sp>
        <p:nvSpPr>
          <p:cNvPr id="17500" name="Rounded Rectangle 74">
            <a:extLst>
              <a:ext uri="{FF2B5EF4-FFF2-40B4-BE49-F238E27FC236}">
                <a16:creationId xmlns:a16="http://schemas.microsoft.com/office/drawing/2014/main" id="{9F7FF8E9-CC5D-050E-71A5-DD50C681E7AC}"/>
              </a:ext>
            </a:extLst>
          </p:cNvPr>
          <p:cNvSpPr/>
          <p:nvPr/>
        </p:nvSpPr>
        <p:spPr>
          <a:xfrm>
            <a:off x="7543800" y="4462272"/>
            <a:ext cx="4069080" cy="713232"/>
          </a:xfrm>
          <a:prstGeom prst="roundRect">
            <a:avLst/>
          </a:prstGeom>
          <a:solidFill>
            <a:srgbClr val="F7F3FC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1" name="Rectangle 17500">
            <a:extLst>
              <a:ext uri="{FF2B5EF4-FFF2-40B4-BE49-F238E27FC236}">
                <a16:creationId xmlns:a16="http://schemas.microsoft.com/office/drawing/2014/main" id="{2DB8E6E2-A686-CFAE-DB9F-195D0455905E}"/>
              </a:ext>
            </a:extLst>
          </p:cNvPr>
          <p:cNvSpPr/>
          <p:nvPr/>
        </p:nvSpPr>
        <p:spPr>
          <a:xfrm>
            <a:off x="7543800" y="4462272"/>
            <a:ext cx="64008" cy="713232"/>
          </a:xfrm>
          <a:prstGeom prst="rect">
            <a:avLst/>
          </a:prstGeom>
          <a:solidFill>
            <a:srgbClr val="674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2" name="TextBox 17501">
            <a:extLst>
              <a:ext uri="{FF2B5EF4-FFF2-40B4-BE49-F238E27FC236}">
                <a16:creationId xmlns:a16="http://schemas.microsoft.com/office/drawing/2014/main" id="{4716482E-1135-721B-2C27-E3D1E6D7C9E1}"/>
              </a:ext>
            </a:extLst>
          </p:cNvPr>
          <p:cNvSpPr txBox="1"/>
          <p:nvPr/>
        </p:nvSpPr>
        <p:spPr>
          <a:xfrm>
            <a:off x="7653528" y="4498874"/>
            <a:ext cx="381304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400" dirty="0"/>
              <a:t>AI ASSISTANT</a:t>
            </a:r>
          </a:p>
        </p:txBody>
      </p:sp>
      <p:sp>
        <p:nvSpPr>
          <p:cNvPr id="17503" name="TextBox 17502">
            <a:extLst>
              <a:ext uri="{FF2B5EF4-FFF2-40B4-BE49-F238E27FC236}">
                <a16:creationId xmlns:a16="http://schemas.microsoft.com/office/drawing/2014/main" id="{66704DD2-07FA-10F9-F0C5-FB9F6EB6EA89}"/>
              </a:ext>
            </a:extLst>
          </p:cNvPr>
          <p:cNvSpPr txBox="1"/>
          <p:nvPr/>
        </p:nvSpPr>
        <p:spPr>
          <a:xfrm>
            <a:off x="7708392" y="4829592"/>
            <a:ext cx="3794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400" dirty="0"/>
              <a:t>Explains forecast and alerts simply</a:t>
            </a:r>
          </a:p>
        </p:txBody>
      </p:sp>
      <p:cxnSp>
        <p:nvCxnSpPr>
          <p:cNvPr id="17504" name="Connector 78">
            <a:extLst>
              <a:ext uri="{FF2B5EF4-FFF2-40B4-BE49-F238E27FC236}">
                <a16:creationId xmlns:a16="http://schemas.microsoft.com/office/drawing/2014/main" id="{2F09E07E-D0D0-03E8-CB4A-E555AE8755C2}"/>
              </a:ext>
            </a:extLst>
          </p:cNvPr>
          <p:cNvCxnSpPr/>
          <p:nvPr/>
        </p:nvCxnSpPr>
        <p:spPr>
          <a:xfrm>
            <a:off x="9573768" y="5212080"/>
            <a:ext cx="0" cy="292608"/>
          </a:xfrm>
          <a:prstGeom prst="line">
            <a:avLst/>
          </a:prstGeom>
          <a:ln w="25400">
            <a:solidFill>
              <a:srgbClr val="338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5" name="TextBox 17504">
            <a:extLst>
              <a:ext uri="{FF2B5EF4-FFF2-40B4-BE49-F238E27FC236}">
                <a16:creationId xmlns:a16="http://schemas.microsoft.com/office/drawing/2014/main" id="{AE269093-45AE-54EE-14D2-754A5DDEF808}"/>
              </a:ext>
            </a:extLst>
          </p:cNvPr>
          <p:cNvSpPr txBox="1"/>
          <p:nvPr/>
        </p:nvSpPr>
        <p:spPr>
          <a:xfrm>
            <a:off x="7818120" y="5481715"/>
            <a:ext cx="3657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338F5E"/>
                </a:solidFill>
                <a:latin typeface="Aptos"/>
              </a:defRPr>
            </a:pPr>
            <a:r>
              <a:rPr sz="1600" dirty="0"/>
              <a:t>NEW DATA → UPDATE → REASSESS</a:t>
            </a:r>
          </a:p>
        </p:txBody>
      </p:sp>
      <p:pic>
        <p:nvPicPr>
          <p:cNvPr id="17512" name="Picture 17511">
            <a:extLst>
              <a:ext uri="{FF2B5EF4-FFF2-40B4-BE49-F238E27FC236}">
                <a16:creationId xmlns:a16="http://schemas.microsoft.com/office/drawing/2014/main" id="{793185D4-ABA3-B441-A111-2F7297ECF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32" y="4670361"/>
            <a:ext cx="3011423" cy="1558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10540" y="-14454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06417" cy="578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Omnitrix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EF3F73-433F-A424-18A2-E5CFD59B1C53}"/>
              </a:ext>
            </a:extLst>
          </p:cNvPr>
          <p:cNvSpPr txBox="1"/>
          <p:nvPr/>
        </p:nvSpPr>
        <p:spPr>
          <a:xfrm>
            <a:off x="704088" y="868680"/>
            <a:ext cx="51023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r>
              <a:rPr dirty="0"/>
              <a:t>Feasibility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4B216E-7646-01F1-B8CD-734D4A5F8957}"/>
              </a:ext>
            </a:extLst>
          </p:cNvPr>
          <p:cNvSpPr/>
          <p:nvPr/>
        </p:nvSpPr>
        <p:spPr>
          <a:xfrm>
            <a:off x="704088" y="1234440"/>
            <a:ext cx="683971" cy="22860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E88E4C-0C34-EF8E-0977-B7CCF57C0EBE}"/>
              </a:ext>
            </a:extLst>
          </p:cNvPr>
          <p:cNvSpPr txBox="1"/>
          <p:nvPr/>
        </p:nvSpPr>
        <p:spPr>
          <a:xfrm>
            <a:off x="6373368" y="868680"/>
            <a:ext cx="51023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r>
              <a:t>Viability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21C040-482C-1421-CDBF-5E32F17BC29D}"/>
              </a:ext>
            </a:extLst>
          </p:cNvPr>
          <p:cNvSpPr/>
          <p:nvPr/>
        </p:nvSpPr>
        <p:spPr>
          <a:xfrm>
            <a:off x="6373368" y="1234440"/>
            <a:ext cx="559612" cy="22860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91D64F43-3216-9067-0D90-844DCAEB835C}"/>
              </a:ext>
            </a:extLst>
          </p:cNvPr>
          <p:cNvSpPr/>
          <p:nvPr/>
        </p:nvSpPr>
        <p:spPr>
          <a:xfrm>
            <a:off x="502920" y="1325880"/>
            <a:ext cx="5257800" cy="1051560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08F20E-A501-B70A-331A-5BDBA6C24A4C}"/>
              </a:ext>
            </a:extLst>
          </p:cNvPr>
          <p:cNvSpPr/>
          <p:nvPr/>
        </p:nvSpPr>
        <p:spPr>
          <a:xfrm>
            <a:off x="502920" y="1325880"/>
            <a:ext cx="64008" cy="1051560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4811F1-3BEE-A50F-07CC-AF72D895F71C}"/>
              </a:ext>
            </a:extLst>
          </p:cNvPr>
          <p:cNvSpPr txBox="1"/>
          <p:nvPr/>
        </p:nvSpPr>
        <p:spPr>
          <a:xfrm>
            <a:off x="667512" y="1357772"/>
            <a:ext cx="500176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DATA AVAILABILITY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E462A8-3839-E6B9-B98C-0F006C3DD0B7}"/>
              </a:ext>
            </a:extLst>
          </p:cNvPr>
          <p:cNvSpPr txBox="1"/>
          <p:nvPr/>
        </p:nvSpPr>
        <p:spPr>
          <a:xfrm>
            <a:off x="667512" y="1723864"/>
            <a:ext cx="49834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Uses available satellite, meteorological and historical cyclone datasets for training/testing.</a:t>
            </a: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8CF42B64-EE8B-86A2-1E4B-A7985D93B30D}"/>
              </a:ext>
            </a:extLst>
          </p:cNvPr>
          <p:cNvSpPr/>
          <p:nvPr/>
        </p:nvSpPr>
        <p:spPr>
          <a:xfrm>
            <a:off x="502920" y="2542032"/>
            <a:ext cx="5257800" cy="1051560"/>
          </a:xfrm>
          <a:prstGeom prst="roundRect">
            <a:avLst/>
          </a:prstGeom>
          <a:solidFill>
            <a:srgbClr val="F1F9F4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E556EF-6F16-F1A8-8FF2-65AA4520032A}"/>
              </a:ext>
            </a:extLst>
          </p:cNvPr>
          <p:cNvSpPr/>
          <p:nvPr/>
        </p:nvSpPr>
        <p:spPr>
          <a:xfrm>
            <a:off x="502920" y="2542032"/>
            <a:ext cx="64008" cy="1051560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FE87EB-816C-C05B-FB5C-73A5ACED5C29}"/>
              </a:ext>
            </a:extLst>
          </p:cNvPr>
          <p:cNvSpPr txBox="1"/>
          <p:nvPr/>
        </p:nvSpPr>
        <p:spPr>
          <a:xfrm>
            <a:off x="667512" y="2573922"/>
            <a:ext cx="500176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TECHNICAL FEASIBILITY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3F5A0-1E0D-F8EC-4112-C77BF7B4488E}"/>
              </a:ext>
            </a:extLst>
          </p:cNvPr>
          <p:cNvSpPr txBox="1"/>
          <p:nvPr/>
        </p:nvSpPr>
        <p:spPr>
          <a:xfrm>
            <a:off x="667512" y="2940015"/>
            <a:ext cx="49834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Web architecture supports access across devices and modular development</a:t>
            </a:r>
            <a:r>
              <a:rPr dirty="0"/>
              <a:t>.</a:t>
            </a:r>
          </a:p>
        </p:txBody>
      </p:sp>
      <p:sp>
        <p:nvSpPr>
          <p:cNvPr id="21" name="Rounded Rectangle 22">
            <a:extLst>
              <a:ext uri="{FF2B5EF4-FFF2-40B4-BE49-F238E27FC236}">
                <a16:creationId xmlns:a16="http://schemas.microsoft.com/office/drawing/2014/main" id="{A50D790B-0685-72CC-3673-18F79507142C}"/>
              </a:ext>
            </a:extLst>
          </p:cNvPr>
          <p:cNvSpPr/>
          <p:nvPr/>
        </p:nvSpPr>
        <p:spPr>
          <a:xfrm>
            <a:off x="502920" y="3758184"/>
            <a:ext cx="5257800" cy="1051560"/>
          </a:xfrm>
          <a:prstGeom prst="roundRect">
            <a:avLst/>
          </a:prstGeom>
          <a:solidFill>
            <a:srgbClr val="FDF2F2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0A7340-779C-7820-9B0B-5041C1A1CDA9}"/>
              </a:ext>
            </a:extLst>
          </p:cNvPr>
          <p:cNvSpPr/>
          <p:nvPr/>
        </p:nvSpPr>
        <p:spPr>
          <a:xfrm>
            <a:off x="502920" y="3758184"/>
            <a:ext cx="64008" cy="1051560"/>
          </a:xfrm>
          <a:prstGeom prst="rect">
            <a:avLst/>
          </a:prstGeom>
          <a:solidFill>
            <a:srgbClr val="C2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4A7454-B8B9-33FD-2652-C19AACFEF8C1}"/>
              </a:ext>
            </a:extLst>
          </p:cNvPr>
          <p:cNvSpPr txBox="1"/>
          <p:nvPr/>
        </p:nvSpPr>
        <p:spPr>
          <a:xfrm>
            <a:off x="667512" y="3790075"/>
            <a:ext cx="500176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KEY CHALLENGES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2D8672-3E92-9FE0-47EE-3E54C576407B}"/>
              </a:ext>
            </a:extLst>
          </p:cNvPr>
          <p:cNvSpPr txBox="1"/>
          <p:nvPr/>
        </p:nvSpPr>
        <p:spPr>
          <a:xfrm>
            <a:off x="640080" y="4127530"/>
            <a:ext cx="49834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Large/varied data • reliable track &amp; intensity • timely location-based alerts.</a:t>
            </a:r>
          </a:p>
        </p:txBody>
      </p:sp>
      <p:sp>
        <p:nvSpPr>
          <p:cNvPr id="25" name="Rounded Rectangle 26">
            <a:extLst>
              <a:ext uri="{FF2B5EF4-FFF2-40B4-BE49-F238E27FC236}">
                <a16:creationId xmlns:a16="http://schemas.microsoft.com/office/drawing/2014/main" id="{D53A973D-0628-E82B-F2DD-5C4B36B82E31}"/>
              </a:ext>
            </a:extLst>
          </p:cNvPr>
          <p:cNvSpPr/>
          <p:nvPr/>
        </p:nvSpPr>
        <p:spPr>
          <a:xfrm>
            <a:off x="6172200" y="1325880"/>
            <a:ext cx="5257800" cy="1051560"/>
          </a:xfrm>
          <a:prstGeom prst="roundRect">
            <a:avLst/>
          </a:prstGeom>
          <a:solidFill>
            <a:srgbClr val="F1F9F4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996854-244B-A218-805A-02AF0FB422DA}"/>
              </a:ext>
            </a:extLst>
          </p:cNvPr>
          <p:cNvSpPr/>
          <p:nvPr/>
        </p:nvSpPr>
        <p:spPr>
          <a:xfrm>
            <a:off x="6172200" y="1325880"/>
            <a:ext cx="64008" cy="1051560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A1FA62-D07E-458B-7EDC-55A58E2806BD}"/>
              </a:ext>
            </a:extLst>
          </p:cNvPr>
          <p:cNvSpPr txBox="1"/>
          <p:nvPr/>
        </p:nvSpPr>
        <p:spPr>
          <a:xfrm>
            <a:off x="6336792" y="1357771"/>
            <a:ext cx="500176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SEQUENTIAL DEPLOYMENT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03D181-DB89-C1C7-2A1C-82A137CA6B2D}"/>
              </a:ext>
            </a:extLst>
          </p:cNvPr>
          <p:cNvSpPr txBox="1"/>
          <p:nvPr/>
        </p:nvSpPr>
        <p:spPr>
          <a:xfrm>
            <a:off x="6336792" y="1723864"/>
            <a:ext cx="49834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Test prediction, map and alert sections separately before integration.</a:t>
            </a:r>
          </a:p>
        </p:txBody>
      </p:sp>
      <p:sp>
        <p:nvSpPr>
          <p:cNvPr id="29" name="Rounded Rectangle 30">
            <a:extLst>
              <a:ext uri="{FF2B5EF4-FFF2-40B4-BE49-F238E27FC236}">
                <a16:creationId xmlns:a16="http://schemas.microsoft.com/office/drawing/2014/main" id="{C45EE47A-CDB7-C612-D2E6-9E41F63DE579}"/>
              </a:ext>
            </a:extLst>
          </p:cNvPr>
          <p:cNvSpPr/>
          <p:nvPr/>
        </p:nvSpPr>
        <p:spPr>
          <a:xfrm>
            <a:off x="6172200" y="2542032"/>
            <a:ext cx="5257800" cy="1051560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630D9E-D2EC-2F22-63FB-E7ADC41DA581}"/>
              </a:ext>
            </a:extLst>
          </p:cNvPr>
          <p:cNvSpPr/>
          <p:nvPr/>
        </p:nvSpPr>
        <p:spPr>
          <a:xfrm>
            <a:off x="6172200" y="2542032"/>
            <a:ext cx="64008" cy="1051560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38402C-C540-2008-C7F6-95B41CFE7F7E}"/>
              </a:ext>
            </a:extLst>
          </p:cNvPr>
          <p:cNvSpPr txBox="1"/>
          <p:nvPr/>
        </p:nvSpPr>
        <p:spPr>
          <a:xfrm>
            <a:off x="6336792" y="2573922"/>
            <a:ext cx="500176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VALIDATION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320393-F07C-E28D-F3D7-50E6FA1283CB}"/>
              </a:ext>
            </a:extLst>
          </p:cNvPr>
          <p:cNvSpPr txBox="1"/>
          <p:nvPr/>
        </p:nvSpPr>
        <p:spPr>
          <a:xfrm>
            <a:off x="6336792" y="3063125"/>
            <a:ext cx="4983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Compare predictions with past cyclone observations.</a:t>
            </a:r>
          </a:p>
        </p:txBody>
      </p:sp>
      <p:sp>
        <p:nvSpPr>
          <p:cNvPr id="33" name="Rounded Rectangle 34">
            <a:extLst>
              <a:ext uri="{FF2B5EF4-FFF2-40B4-BE49-F238E27FC236}">
                <a16:creationId xmlns:a16="http://schemas.microsoft.com/office/drawing/2014/main" id="{96AB72B8-5FD1-565F-BC18-D988A6A91247}"/>
              </a:ext>
            </a:extLst>
          </p:cNvPr>
          <p:cNvSpPr/>
          <p:nvPr/>
        </p:nvSpPr>
        <p:spPr>
          <a:xfrm>
            <a:off x="6172200" y="3758184"/>
            <a:ext cx="5257800" cy="1051560"/>
          </a:xfrm>
          <a:prstGeom prst="roundRect">
            <a:avLst/>
          </a:prstGeom>
          <a:solidFill>
            <a:srgbClr val="FCF7E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6C170A-3A9B-B4D5-5029-F2270DEC8CE8}"/>
              </a:ext>
            </a:extLst>
          </p:cNvPr>
          <p:cNvSpPr/>
          <p:nvPr/>
        </p:nvSpPr>
        <p:spPr>
          <a:xfrm>
            <a:off x="6172200" y="3758184"/>
            <a:ext cx="64008" cy="1051560"/>
          </a:xfrm>
          <a:prstGeom prst="rect">
            <a:avLst/>
          </a:prstGeom>
          <a:solidFill>
            <a:srgbClr val="E1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4CCE56-5E19-630F-0EC1-ACCBF0E4AEF4}"/>
              </a:ext>
            </a:extLst>
          </p:cNvPr>
          <p:cNvSpPr txBox="1"/>
          <p:nvPr/>
        </p:nvSpPr>
        <p:spPr>
          <a:xfrm>
            <a:off x="6336792" y="3790075"/>
            <a:ext cx="500176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SCALABILITY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B985D8-1690-D959-65C8-88717F7B042F}"/>
              </a:ext>
            </a:extLst>
          </p:cNvPr>
          <p:cNvSpPr txBox="1"/>
          <p:nvPr/>
        </p:nvSpPr>
        <p:spPr>
          <a:xfrm>
            <a:off x="6336792" y="4156168"/>
            <a:ext cx="49834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Modular pipeline can incorporate additional data sources later.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ACC2B7-426A-AAE9-E25B-518C97839D3A}"/>
              </a:ext>
            </a:extLst>
          </p:cNvPr>
          <p:cNvSpPr txBox="1"/>
          <p:nvPr/>
        </p:nvSpPr>
        <p:spPr>
          <a:xfrm>
            <a:off x="502920" y="5042803"/>
            <a:ext cx="109728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IMPLEMENTATION FLOW</a:t>
            </a:r>
          </a:p>
        </p:txBody>
      </p:sp>
      <p:sp>
        <p:nvSpPr>
          <p:cNvPr id="38" name="Rounded Rectangle 39">
            <a:extLst>
              <a:ext uri="{FF2B5EF4-FFF2-40B4-BE49-F238E27FC236}">
                <a16:creationId xmlns:a16="http://schemas.microsoft.com/office/drawing/2014/main" id="{938BB9BA-C5A6-8E3D-93B3-9709D06F1BDB}"/>
              </a:ext>
            </a:extLst>
          </p:cNvPr>
          <p:cNvSpPr/>
          <p:nvPr/>
        </p:nvSpPr>
        <p:spPr>
          <a:xfrm>
            <a:off x="658368" y="5440680"/>
            <a:ext cx="2331720" cy="566928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19B168C-6BD1-6730-E453-6DA893B247B3}"/>
              </a:ext>
            </a:extLst>
          </p:cNvPr>
          <p:cNvSpPr/>
          <p:nvPr/>
        </p:nvSpPr>
        <p:spPr>
          <a:xfrm>
            <a:off x="658368" y="5440680"/>
            <a:ext cx="64008" cy="566928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CAEAC2-F288-316E-85AF-6A7DA4987FFC}"/>
              </a:ext>
            </a:extLst>
          </p:cNvPr>
          <p:cNvSpPr txBox="1"/>
          <p:nvPr/>
        </p:nvSpPr>
        <p:spPr>
          <a:xfrm>
            <a:off x="844298" y="5434239"/>
            <a:ext cx="208483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DATA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0D76A8-7499-4151-4EFC-0DCB7F7A95EE}"/>
              </a:ext>
            </a:extLst>
          </p:cNvPr>
          <p:cNvSpPr txBox="1"/>
          <p:nvPr/>
        </p:nvSpPr>
        <p:spPr>
          <a:xfrm>
            <a:off x="822959" y="5719459"/>
            <a:ext cx="2057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Collect</a:t>
            </a:r>
          </a:p>
        </p:txBody>
      </p:sp>
      <p:cxnSp>
        <p:nvCxnSpPr>
          <p:cNvPr id="42" name="Connector 43">
            <a:extLst>
              <a:ext uri="{FF2B5EF4-FFF2-40B4-BE49-F238E27FC236}">
                <a16:creationId xmlns:a16="http://schemas.microsoft.com/office/drawing/2014/main" id="{44ABF455-433A-22A9-C76B-6A2FD75A4302}"/>
              </a:ext>
            </a:extLst>
          </p:cNvPr>
          <p:cNvCxnSpPr/>
          <p:nvPr/>
        </p:nvCxnSpPr>
        <p:spPr>
          <a:xfrm>
            <a:off x="2999232" y="5724144"/>
            <a:ext cx="237744" cy="0"/>
          </a:xfrm>
          <a:prstGeom prst="line">
            <a:avLst/>
          </a:prstGeom>
          <a:ln w="25400">
            <a:solidFill>
              <a:srgbClr val="127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4">
            <a:extLst>
              <a:ext uri="{FF2B5EF4-FFF2-40B4-BE49-F238E27FC236}">
                <a16:creationId xmlns:a16="http://schemas.microsoft.com/office/drawing/2014/main" id="{FE02E88D-F044-8739-20E4-435FC5FA16DE}"/>
              </a:ext>
            </a:extLst>
          </p:cNvPr>
          <p:cNvSpPr/>
          <p:nvPr/>
        </p:nvSpPr>
        <p:spPr>
          <a:xfrm>
            <a:off x="3474720" y="5440680"/>
            <a:ext cx="2331720" cy="566928"/>
          </a:xfrm>
          <a:prstGeom prst="roundRect">
            <a:avLst/>
          </a:prstGeom>
          <a:solidFill>
            <a:srgbClr val="F1F9F4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0C2BBA0-D01B-63EC-0F24-8E836BD55D5F}"/>
              </a:ext>
            </a:extLst>
          </p:cNvPr>
          <p:cNvSpPr/>
          <p:nvPr/>
        </p:nvSpPr>
        <p:spPr>
          <a:xfrm>
            <a:off x="3474720" y="5440680"/>
            <a:ext cx="64008" cy="566928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BFB0B7-6AF5-EAB4-355C-A58AF1805760}"/>
              </a:ext>
            </a:extLst>
          </p:cNvPr>
          <p:cNvSpPr txBox="1"/>
          <p:nvPr/>
        </p:nvSpPr>
        <p:spPr>
          <a:xfrm>
            <a:off x="3639312" y="5472571"/>
            <a:ext cx="207568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PROCESS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1A90B9-17AE-EB67-1F40-55E212B05B36}"/>
              </a:ext>
            </a:extLst>
          </p:cNvPr>
          <p:cNvSpPr txBox="1"/>
          <p:nvPr/>
        </p:nvSpPr>
        <p:spPr>
          <a:xfrm>
            <a:off x="3639312" y="5719459"/>
            <a:ext cx="2057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Clean + Fuse</a:t>
            </a:r>
          </a:p>
        </p:txBody>
      </p:sp>
      <p:cxnSp>
        <p:nvCxnSpPr>
          <p:cNvPr id="47" name="Connector 48">
            <a:extLst>
              <a:ext uri="{FF2B5EF4-FFF2-40B4-BE49-F238E27FC236}">
                <a16:creationId xmlns:a16="http://schemas.microsoft.com/office/drawing/2014/main" id="{CE2DA7F5-ECFB-20D6-38E6-70FF35E6721E}"/>
              </a:ext>
            </a:extLst>
          </p:cNvPr>
          <p:cNvCxnSpPr/>
          <p:nvPr/>
        </p:nvCxnSpPr>
        <p:spPr>
          <a:xfrm>
            <a:off x="5815583" y="5724144"/>
            <a:ext cx="237744" cy="0"/>
          </a:xfrm>
          <a:prstGeom prst="line">
            <a:avLst/>
          </a:prstGeom>
          <a:ln w="25400">
            <a:solidFill>
              <a:srgbClr val="338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9">
            <a:extLst>
              <a:ext uri="{FF2B5EF4-FFF2-40B4-BE49-F238E27FC236}">
                <a16:creationId xmlns:a16="http://schemas.microsoft.com/office/drawing/2014/main" id="{2C623B7A-39CB-1BA8-286C-CE2FE01B6D15}"/>
              </a:ext>
            </a:extLst>
          </p:cNvPr>
          <p:cNvSpPr/>
          <p:nvPr/>
        </p:nvSpPr>
        <p:spPr>
          <a:xfrm>
            <a:off x="6291072" y="5440680"/>
            <a:ext cx="2331720" cy="566928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7348044-8B0F-21C5-4E25-50BC21CDFD50}"/>
              </a:ext>
            </a:extLst>
          </p:cNvPr>
          <p:cNvSpPr/>
          <p:nvPr/>
        </p:nvSpPr>
        <p:spPr>
          <a:xfrm>
            <a:off x="6291072" y="5440680"/>
            <a:ext cx="64008" cy="566928"/>
          </a:xfrm>
          <a:prstGeom prst="rect">
            <a:avLst/>
          </a:prstGeom>
          <a:solidFill>
            <a:srgbClr val="674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BCD914-762F-21C8-02CA-B213231C31CB}"/>
              </a:ext>
            </a:extLst>
          </p:cNvPr>
          <p:cNvSpPr txBox="1"/>
          <p:nvPr/>
        </p:nvSpPr>
        <p:spPr>
          <a:xfrm>
            <a:off x="6455664" y="5472571"/>
            <a:ext cx="207568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MODEL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6BC6F1-871C-5977-B220-05C911E15FE5}"/>
              </a:ext>
            </a:extLst>
          </p:cNvPr>
          <p:cNvSpPr txBox="1"/>
          <p:nvPr/>
        </p:nvSpPr>
        <p:spPr>
          <a:xfrm>
            <a:off x="6455664" y="5719459"/>
            <a:ext cx="2057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Train + Test</a:t>
            </a:r>
          </a:p>
        </p:txBody>
      </p:sp>
      <p:cxnSp>
        <p:nvCxnSpPr>
          <p:cNvPr id="52" name="Connector 53">
            <a:extLst>
              <a:ext uri="{FF2B5EF4-FFF2-40B4-BE49-F238E27FC236}">
                <a16:creationId xmlns:a16="http://schemas.microsoft.com/office/drawing/2014/main" id="{83DD6B60-964F-430E-B43E-5942D91F1FCF}"/>
              </a:ext>
            </a:extLst>
          </p:cNvPr>
          <p:cNvCxnSpPr/>
          <p:nvPr/>
        </p:nvCxnSpPr>
        <p:spPr>
          <a:xfrm>
            <a:off x="8631936" y="5724144"/>
            <a:ext cx="237744" cy="0"/>
          </a:xfrm>
          <a:prstGeom prst="line">
            <a:avLst/>
          </a:prstGeom>
          <a:ln w="25400">
            <a:solidFill>
              <a:srgbClr val="674D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4">
            <a:extLst>
              <a:ext uri="{FF2B5EF4-FFF2-40B4-BE49-F238E27FC236}">
                <a16:creationId xmlns:a16="http://schemas.microsoft.com/office/drawing/2014/main" id="{DC2C4487-80C8-8BFA-9F24-4D7B5E6247BD}"/>
              </a:ext>
            </a:extLst>
          </p:cNvPr>
          <p:cNvSpPr/>
          <p:nvPr/>
        </p:nvSpPr>
        <p:spPr>
          <a:xfrm>
            <a:off x="9107424" y="5440680"/>
            <a:ext cx="2331720" cy="566928"/>
          </a:xfrm>
          <a:prstGeom prst="roundRect">
            <a:avLst/>
          </a:prstGeom>
          <a:solidFill>
            <a:srgbClr val="F1F9F4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6AB9419-C0C7-0A86-D716-4BCE160D4398}"/>
              </a:ext>
            </a:extLst>
          </p:cNvPr>
          <p:cNvSpPr/>
          <p:nvPr/>
        </p:nvSpPr>
        <p:spPr>
          <a:xfrm>
            <a:off x="9107424" y="5440680"/>
            <a:ext cx="64008" cy="566928"/>
          </a:xfrm>
          <a:prstGeom prst="rect">
            <a:avLst/>
          </a:prstGeom>
          <a:solidFill>
            <a:srgbClr val="E1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745C9E-031F-04D4-9027-3566BE7C2DBE}"/>
              </a:ext>
            </a:extLst>
          </p:cNvPr>
          <p:cNvSpPr txBox="1"/>
          <p:nvPr/>
        </p:nvSpPr>
        <p:spPr>
          <a:xfrm>
            <a:off x="9272016" y="5472571"/>
            <a:ext cx="207568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DEPLOY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BE9492-6F75-A538-3F0D-92AE67C7CD91}"/>
              </a:ext>
            </a:extLst>
          </p:cNvPr>
          <p:cNvSpPr txBox="1"/>
          <p:nvPr/>
        </p:nvSpPr>
        <p:spPr>
          <a:xfrm>
            <a:off x="9281160" y="5719459"/>
            <a:ext cx="2057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Map + Alerts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59451"/>
            <a:ext cx="93853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br>
              <a:rPr lang="en-US" sz="2800" dirty="0"/>
            </a:b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78136" cy="52308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Omnitrix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A9E640-AE3B-01A5-832F-9A20C9ACE1A0}"/>
              </a:ext>
            </a:extLst>
          </p:cNvPr>
          <p:cNvSpPr txBox="1"/>
          <p:nvPr/>
        </p:nvSpPr>
        <p:spPr>
          <a:xfrm>
            <a:off x="704088" y="868680"/>
            <a:ext cx="5010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r>
              <a:rPr dirty="0"/>
              <a:t>Target Beneficiaries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477972-4EDD-D38B-C0BC-DCFA05E2B75D}"/>
              </a:ext>
            </a:extLst>
          </p:cNvPr>
          <p:cNvSpPr/>
          <p:nvPr/>
        </p:nvSpPr>
        <p:spPr>
          <a:xfrm>
            <a:off x="704088" y="1234440"/>
            <a:ext cx="1243584" cy="22860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BC82279F-9F3B-3D11-14FD-3E5588E8316E}"/>
              </a:ext>
            </a:extLst>
          </p:cNvPr>
          <p:cNvSpPr/>
          <p:nvPr/>
        </p:nvSpPr>
        <p:spPr>
          <a:xfrm>
            <a:off x="502920" y="1325880"/>
            <a:ext cx="5212080" cy="713232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557F82-456D-B7E5-BD63-264975247CBC}"/>
              </a:ext>
            </a:extLst>
          </p:cNvPr>
          <p:cNvSpPr/>
          <p:nvPr/>
        </p:nvSpPr>
        <p:spPr>
          <a:xfrm>
            <a:off x="502920" y="1325880"/>
            <a:ext cx="64008" cy="713232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DD009A-E184-85BC-C425-96CA3289045F}"/>
              </a:ext>
            </a:extLst>
          </p:cNvPr>
          <p:cNvSpPr txBox="1"/>
          <p:nvPr/>
        </p:nvSpPr>
        <p:spPr>
          <a:xfrm>
            <a:off x="667512" y="1357771"/>
            <a:ext cx="495604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PEOPLE IN CYCLONE-PRONE AREAS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23C11E-D3E2-DCE5-EDBD-193DF37C48EC}"/>
              </a:ext>
            </a:extLst>
          </p:cNvPr>
          <p:cNvSpPr txBox="1"/>
          <p:nvPr/>
        </p:nvSpPr>
        <p:spPr>
          <a:xfrm>
            <a:off x="667512" y="1677811"/>
            <a:ext cx="49377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Clear forecasts, risk views and timely warnings</a:t>
            </a:r>
            <a:r>
              <a:rPr lang="en-IN" sz="1600" dirty="0"/>
              <a:t>.</a:t>
            </a:r>
            <a:endParaRPr dirty="0"/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FD037A77-6250-D5E0-3F1F-38A96C8A2F6B}"/>
              </a:ext>
            </a:extLst>
          </p:cNvPr>
          <p:cNvSpPr/>
          <p:nvPr/>
        </p:nvSpPr>
        <p:spPr>
          <a:xfrm>
            <a:off x="502920" y="2176272"/>
            <a:ext cx="5212080" cy="713232"/>
          </a:xfrm>
          <a:prstGeom prst="roundRect">
            <a:avLst/>
          </a:prstGeom>
          <a:solidFill>
            <a:srgbClr val="F1F9F4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4AAEAF-0727-8D1B-664C-6BE582D324AD}"/>
              </a:ext>
            </a:extLst>
          </p:cNvPr>
          <p:cNvSpPr/>
          <p:nvPr/>
        </p:nvSpPr>
        <p:spPr>
          <a:xfrm>
            <a:off x="502920" y="2176272"/>
            <a:ext cx="64008" cy="713232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5CF808-2EA9-39E3-2CE0-C20B55051609}"/>
              </a:ext>
            </a:extLst>
          </p:cNvPr>
          <p:cNvSpPr txBox="1"/>
          <p:nvPr/>
        </p:nvSpPr>
        <p:spPr>
          <a:xfrm>
            <a:off x="667512" y="2208162"/>
            <a:ext cx="495604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DISASTER-RESPONSE TEAMS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905E56-D5C1-A17D-E9CA-62F4A563E6B5}"/>
              </a:ext>
            </a:extLst>
          </p:cNvPr>
          <p:cNvSpPr txBox="1"/>
          <p:nvPr/>
        </p:nvSpPr>
        <p:spPr>
          <a:xfrm>
            <a:off x="667512" y="2405093"/>
            <a:ext cx="493776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Better situational awareness for preparedness and response</a:t>
            </a:r>
            <a:r>
              <a:rPr dirty="0"/>
              <a:t>.</a:t>
            </a:r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0D4441D2-11B0-CDC1-6497-C50E55183339}"/>
              </a:ext>
            </a:extLst>
          </p:cNvPr>
          <p:cNvSpPr/>
          <p:nvPr/>
        </p:nvSpPr>
        <p:spPr>
          <a:xfrm>
            <a:off x="502920" y="3026664"/>
            <a:ext cx="5212080" cy="713232"/>
          </a:xfrm>
          <a:prstGeom prst="roundRect">
            <a:avLst/>
          </a:prstGeom>
          <a:solidFill>
            <a:srgbClr val="FCF7E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F8D10D-D8CC-4D0A-04BB-0B345196EF3F}"/>
              </a:ext>
            </a:extLst>
          </p:cNvPr>
          <p:cNvSpPr/>
          <p:nvPr/>
        </p:nvSpPr>
        <p:spPr>
          <a:xfrm>
            <a:off x="502920" y="3026664"/>
            <a:ext cx="64008" cy="713232"/>
          </a:xfrm>
          <a:prstGeom prst="rect">
            <a:avLst/>
          </a:prstGeom>
          <a:solidFill>
            <a:srgbClr val="E1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912A16-42C2-7B32-3C64-DEB90465345A}"/>
              </a:ext>
            </a:extLst>
          </p:cNvPr>
          <p:cNvSpPr txBox="1"/>
          <p:nvPr/>
        </p:nvSpPr>
        <p:spPr>
          <a:xfrm>
            <a:off x="667512" y="3035695"/>
            <a:ext cx="5074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LOCAL AUTHORITIES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833298-8381-C656-96A7-88B9B2D00792}"/>
              </a:ext>
            </a:extLst>
          </p:cNvPr>
          <p:cNvSpPr txBox="1"/>
          <p:nvPr/>
        </p:nvSpPr>
        <p:spPr>
          <a:xfrm>
            <a:off x="667512" y="3378595"/>
            <a:ext cx="49377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Location-specific information to support decisions.</a:t>
            </a:r>
          </a:p>
        </p:txBody>
      </p:sp>
      <p:sp>
        <p:nvSpPr>
          <p:cNvPr id="22" name="Rounded Rectangle 23">
            <a:extLst>
              <a:ext uri="{FF2B5EF4-FFF2-40B4-BE49-F238E27FC236}">
                <a16:creationId xmlns:a16="http://schemas.microsoft.com/office/drawing/2014/main" id="{B7363567-E3D0-1846-FF6C-729635144859}"/>
              </a:ext>
            </a:extLst>
          </p:cNvPr>
          <p:cNvSpPr/>
          <p:nvPr/>
        </p:nvSpPr>
        <p:spPr>
          <a:xfrm>
            <a:off x="502920" y="3877056"/>
            <a:ext cx="5212080" cy="713232"/>
          </a:xfrm>
          <a:prstGeom prst="roundRect">
            <a:avLst/>
          </a:prstGeom>
          <a:solidFill>
            <a:srgbClr val="F7F3FC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0E50F2-D3B5-E0BC-B409-24B42022994C}"/>
              </a:ext>
            </a:extLst>
          </p:cNvPr>
          <p:cNvSpPr/>
          <p:nvPr/>
        </p:nvSpPr>
        <p:spPr>
          <a:xfrm>
            <a:off x="502920" y="3877056"/>
            <a:ext cx="64008" cy="713232"/>
          </a:xfrm>
          <a:prstGeom prst="rect">
            <a:avLst/>
          </a:prstGeom>
          <a:solidFill>
            <a:srgbClr val="674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5ECFDB-648F-FEC5-5A53-676BA13CA54A}"/>
              </a:ext>
            </a:extLst>
          </p:cNvPr>
          <p:cNvSpPr txBox="1"/>
          <p:nvPr/>
        </p:nvSpPr>
        <p:spPr>
          <a:xfrm>
            <a:off x="667512" y="3908947"/>
            <a:ext cx="495604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COMMUNITIES &amp; BUSINESSES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D99D11-67AB-DA7A-7F14-F367414D84C8}"/>
              </a:ext>
            </a:extLst>
          </p:cNvPr>
          <p:cNvSpPr txBox="1"/>
          <p:nvPr/>
        </p:nvSpPr>
        <p:spPr>
          <a:xfrm>
            <a:off x="667512" y="4228987"/>
            <a:ext cx="49377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Accessible information for vulnerable areas.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CE138C-7934-C3A9-8C07-C1B9BCB2D147}"/>
              </a:ext>
            </a:extLst>
          </p:cNvPr>
          <p:cNvSpPr txBox="1"/>
          <p:nvPr/>
        </p:nvSpPr>
        <p:spPr>
          <a:xfrm>
            <a:off x="6281928" y="868680"/>
            <a:ext cx="51937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r>
              <a:t>Impact Chain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B88004-156E-FFBE-BD0D-220D59A2F1F9}"/>
              </a:ext>
            </a:extLst>
          </p:cNvPr>
          <p:cNvSpPr/>
          <p:nvPr/>
        </p:nvSpPr>
        <p:spPr>
          <a:xfrm>
            <a:off x="6281928" y="1234440"/>
            <a:ext cx="746150" cy="22860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30">
            <a:extLst>
              <a:ext uri="{FF2B5EF4-FFF2-40B4-BE49-F238E27FC236}">
                <a16:creationId xmlns:a16="http://schemas.microsoft.com/office/drawing/2014/main" id="{70B7A95A-AB77-2DB0-7C78-54047E8A3BDB}"/>
              </a:ext>
            </a:extLst>
          </p:cNvPr>
          <p:cNvSpPr/>
          <p:nvPr/>
        </p:nvSpPr>
        <p:spPr>
          <a:xfrm>
            <a:off x="6172200" y="1325880"/>
            <a:ext cx="5074920" cy="640080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45C549-DA4A-1382-18D5-37EA49CB244D}"/>
              </a:ext>
            </a:extLst>
          </p:cNvPr>
          <p:cNvSpPr/>
          <p:nvPr/>
        </p:nvSpPr>
        <p:spPr>
          <a:xfrm>
            <a:off x="6172200" y="1325880"/>
            <a:ext cx="64008" cy="640080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E0BA46-D74C-E949-D9F9-229A419469C8}"/>
              </a:ext>
            </a:extLst>
          </p:cNvPr>
          <p:cNvSpPr txBox="1"/>
          <p:nvPr/>
        </p:nvSpPr>
        <p:spPr>
          <a:xfrm>
            <a:off x="6336792" y="1357771"/>
            <a:ext cx="481888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AI PREDICTION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985D38-DF5C-DF41-C45D-3DEB0304AFA0}"/>
              </a:ext>
            </a:extLst>
          </p:cNvPr>
          <p:cNvSpPr txBox="1"/>
          <p:nvPr/>
        </p:nvSpPr>
        <p:spPr>
          <a:xfrm>
            <a:off x="6355080" y="1641235"/>
            <a:ext cx="4800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Detect + classify + forecast</a:t>
            </a:r>
          </a:p>
        </p:txBody>
      </p:sp>
      <p:cxnSp>
        <p:nvCxnSpPr>
          <p:cNvPr id="33" name="Connector 34">
            <a:extLst>
              <a:ext uri="{FF2B5EF4-FFF2-40B4-BE49-F238E27FC236}">
                <a16:creationId xmlns:a16="http://schemas.microsoft.com/office/drawing/2014/main" id="{CE71E329-F7C4-A770-4C54-A0D924171149}"/>
              </a:ext>
            </a:extLst>
          </p:cNvPr>
          <p:cNvCxnSpPr/>
          <p:nvPr/>
        </p:nvCxnSpPr>
        <p:spPr>
          <a:xfrm>
            <a:off x="8705088" y="1975104"/>
            <a:ext cx="0" cy="146304"/>
          </a:xfrm>
          <a:prstGeom prst="line">
            <a:avLst/>
          </a:prstGeom>
          <a:ln w="25400">
            <a:solidFill>
              <a:srgbClr val="127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5">
            <a:extLst>
              <a:ext uri="{FF2B5EF4-FFF2-40B4-BE49-F238E27FC236}">
                <a16:creationId xmlns:a16="http://schemas.microsoft.com/office/drawing/2014/main" id="{89D12BC2-57AB-A478-93B9-74ED478A178F}"/>
              </a:ext>
            </a:extLst>
          </p:cNvPr>
          <p:cNvSpPr/>
          <p:nvPr/>
        </p:nvSpPr>
        <p:spPr>
          <a:xfrm>
            <a:off x="6172200" y="2130552"/>
            <a:ext cx="5074920" cy="640080"/>
          </a:xfrm>
          <a:prstGeom prst="roundRect">
            <a:avLst/>
          </a:prstGeom>
          <a:solidFill>
            <a:srgbClr val="FCF7E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871E96E-ED81-3156-7C73-16DDC0F70D2F}"/>
              </a:ext>
            </a:extLst>
          </p:cNvPr>
          <p:cNvSpPr/>
          <p:nvPr/>
        </p:nvSpPr>
        <p:spPr>
          <a:xfrm>
            <a:off x="6172200" y="2130552"/>
            <a:ext cx="64008" cy="640080"/>
          </a:xfrm>
          <a:prstGeom prst="rect">
            <a:avLst/>
          </a:prstGeom>
          <a:solidFill>
            <a:srgbClr val="E1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8AAB11-1596-591A-6EA5-C25B94B06B0D}"/>
              </a:ext>
            </a:extLst>
          </p:cNvPr>
          <p:cNvSpPr txBox="1"/>
          <p:nvPr/>
        </p:nvSpPr>
        <p:spPr>
          <a:xfrm>
            <a:off x="6336792" y="2162443"/>
            <a:ext cx="481888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RISK ASSESSMENT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0D88D7-4C58-9DCF-3020-F9407F1FFD73}"/>
              </a:ext>
            </a:extLst>
          </p:cNvPr>
          <p:cNvSpPr txBox="1"/>
          <p:nvPr/>
        </p:nvSpPr>
        <p:spPr>
          <a:xfrm>
            <a:off x="6336792" y="2445907"/>
            <a:ext cx="4800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Estimate local impact</a:t>
            </a:r>
          </a:p>
        </p:txBody>
      </p:sp>
      <p:cxnSp>
        <p:nvCxnSpPr>
          <p:cNvPr id="38" name="Connector 39">
            <a:extLst>
              <a:ext uri="{FF2B5EF4-FFF2-40B4-BE49-F238E27FC236}">
                <a16:creationId xmlns:a16="http://schemas.microsoft.com/office/drawing/2014/main" id="{EC3D8BA6-F6CA-1729-8BEE-1D4E74C8BC4C}"/>
              </a:ext>
            </a:extLst>
          </p:cNvPr>
          <p:cNvCxnSpPr/>
          <p:nvPr/>
        </p:nvCxnSpPr>
        <p:spPr>
          <a:xfrm>
            <a:off x="8705088" y="2779776"/>
            <a:ext cx="0" cy="146304"/>
          </a:xfrm>
          <a:prstGeom prst="line">
            <a:avLst/>
          </a:prstGeom>
          <a:ln w="25400">
            <a:solidFill>
              <a:srgbClr val="E185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40">
            <a:extLst>
              <a:ext uri="{FF2B5EF4-FFF2-40B4-BE49-F238E27FC236}">
                <a16:creationId xmlns:a16="http://schemas.microsoft.com/office/drawing/2014/main" id="{1A0B88AC-0A3D-93D6-7CD3-A9C17156FC24}"/>
              </a:ext>
            </a:extLst>
          </p:cNvPr>
          <p:cNvSpPr/>
          <p:nvPr/>
        </p:nvSpPr>
        <p:spPr>
          <a:xfrm>
            <a:off x="6172200" y="2935224"/>
            <a:ext cx="5074920" cy="640080"/>
          </a:xfrm>
          <a:prstGeom prst="roundRect">
            <a:avLst/>
          </a:prstGeom>
          <a:solidFill>
            <a:srgbClr val="FDF2F2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DE058F-EF77-4B35-5A4F-54B78B19CC68}"/>
              </a:ext>
            </a:extLst>
          </p:cNvPr>
          <p:cNvSpPr/>
          <p:nvPr/>
        </p:nvSpPr>
        <p:spPr>
          <a:xfrm>
            <a:off x="6172200" y="2935224"/>
            <a:ext cx="64008" cy="640080"/>
          </a:xfrm>
          <a:prstGeom prst="rect">
            <a:avLst/>
          </a:prstGeom>
          <a:solidFill>
            <a:srgbClr val="C2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5DF7E7-528C-4C4F-DCD9-9A3EAF311E81}"/>
              </a:ext>
            </a:extLst>
          </p:cNvPr>
          <p:cNvSpPr txBox="1"/>
          <p:nvPr/>
        </p:nvSpPr>
        <p:spPr>
          <a:xfrm>
            <a:off x="6336792" y="2967115"/>
            <a:ext cx="481888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EARLY WARNING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38F36D-E0F9-DFBC-8BD7-58428060B4B1}"/>
              </a:ext>
            </a:extLst>
          </p:cNvPr>
          <p:cNvSpPr txBox="1"/>
          <p:nvPr/>
        </p:nvSpPr>
        <p:spPr>
          <a:xfrm>
            <a:off x="6336792" y="3250579"/>
            <a:ext cx="4800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Send timely alerts</a:t>
            </a:r>
          </a:p>
        </p:txBody>
      </p:sp>
      <p:cxnSp>
        <p:nvCxnSpPr>
          <p:cNvPr id="43" name="Connector 44">
            <a:extLst>
              <a:ext uri="{FF2B5EF4-FFF2-40B4-BE49-F238E27FC236}">
                <a16:creationId xmlns:a16="http://schemas.microsoft.com/office/drawing/2014/main" id="{3E0C257A-E603-651D-79E8-A5447E1088ED}"/>
              </a:ext>
            </a:extLst>
          </p:cNvPr>
          <p:cNvCxnSpPr/>
          <p:nvPr/>
        </p:nvCxnSpPr>
        <p:spPr>
          <a:xfrm>
            <a:off x="8705088" y="3584448"/>
            <a:ext cx="0" cy="146304"/>
          </a:xfrm>
          <a:prstGeom prst="line">
            <a:avLst/>
          </a:prstGeom>
          <a:ln w="25400">
            <a:solidFill>
              <a:srgbClr val="C2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5">
            <a:extLst>
              <a:ext uri="{FF2B5EF4-FFF2-40B4-BE49-F238E27FC236}">
                <a16:creationId xmlns:a16="http://schemas.microsoft.com/office/drawing/2014/main" id="{B9B64934-9D58-DEB6-CC41-069F88AF46F9}"/>
              </a:ext>
            </a:extLst>
          </p:cNvPr>
          <p:cNvSpPr/>
          <p:nvPr/>
        </p:nvSpPr>
        <p:spPr>
          <a:xfrm>
            <a:off x="6172200" y="3739896"/>
            <a:ext cx="5074920" cy="640080"/>
          </a:xfrm>
          <a:prstGeom prst="roundRect">
            <a:avLst/>
          </a:prstGeom>
          <a:solidFill>
            <a:srgbClr val="F1F9F4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18DFE7-BDFF-3EFB-6606-572A16C76351}"/>
              </a:ext>
            </a:extLst>
          </p:cNvPr>
          <p:cNvSpPr/>
          <p:nvPr/>
        </p:nvSpPr>
        <p:spPr>
          <a:xfrm>
            <a:off x="6172200" y="3739896"/>
            <a:ext cx="64008" cy="640080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EA3442-5512-C878-56B1-01F75D7FB1DA}"/>
              </a:ext>
            </a:extLst>
          </p:cNvPr>
          <p:cNvSpPr txBox="1"/>
          <p:nvPr/>
        </p:nvSpPr>
        <p:spPr>
          <a:xfrm>
            <a:off x="6336792" y="3771787"/>
            <a:ext cx="481888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PREPARED RESPONSE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55CAFA-AC88-6BB2-F8FA-938731BB78E0}"/>
              </a:ext>
            </a:extLst>
          </p:cNvPr>
          <p:cNvSpPr txBox="1"/>
          <p:nvPr/>
        </p:nvSpPr>
        <p:spPr>
          <a:xfrm>
            <a:off x="6336792" y="4055251"/>
            <a:ext cx="4800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Support readiness and action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878B40-29E1-5430-4F8E-BBFB02263CF7}"/>
              </a:ext>
            </a:extLst>
          </p:cNvPr>
          <p:cNvSpPr txBox="1"/>
          <p:nvPr/>
        </p:nvSpPr>
        <p:spPr>
          <a:xfrm>
            <a:off x="6263640" y="4760565"/>
            <a:ext cx="48920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A4C6D"/>
                </a:solidFill>
                <a:latin typeface="Aptos"/>
              </a:defRPr>
            </a:pPr>
            <a:r>
              <a:rPr sz="2000" dirty="0"/>
              <a:t>EXPECTED OUTCOME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0A7D63-5AC3-040B-FE01-4BA5DD1E5AD7}"/>
              </a:ext>
            </a:extLst>
          </p:cNvPr>
          <p:cNvSpPr txBox="1"/>
          <p:nvPr/>
        </p:nvSpPr>
        <p:spPr>
          <a:xfrm>
            <a:off x="6263640" y="5159889"/>
            <a:ext cx="48920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338F5E"/>
                </a:solidFill>
                <a:latin typeface="Aptos"/>
              </a:defRPr>
            </a:pPr>
            <a:r>
              <a:rPr sz="2000" dirty="0"/>
              <a:t>Better awareness • Easier understanding</a:t>
            </a:r>
            <a:br>
              <a:rPr sz="2000" dirty="0"/>
            </a:br>
            <a:r>
              <a:rPr sz="2000" dirty="0"/>
              <a:t>Localized alerts • Better preparedness</a:t>
            </a:r>
          </a:p>
        </p:txBody>
      </p:sp>
      <p:pic>
        <p:nvPicPr>
          <p:cNvPr id="52" name="Picture 51" descr="https://images.openai.com/static-rsc-4/EkDSaCLGDGkrXdCG-ktMFU8l-QcG6AdoqxJy3SqewQQ5hH49_wF2xY45ElYRoBIUyCns78PfhYuPYQtiZsm0XddMC_U9C0k60ukzSavMGsHvNA1fhBJqfpEwQKFcUDtFOxxD8YaCeY9WdIsmw1jk8MlWeInY9mJOUfz4F_bXvM2qsXtR-mnEovCSLbbCzLVc?purpose=fullsize">
            <a:extLst>
              <a:ext uri="{FF2B5EF4-FFF2-40B4-BE49-F238E27FC236}">
                <a16:creationId xmlns:a16="http://schemas.microsoft.com/office/drawing/2014/main" id="{6A4ACDB4-F37E-FE92-6613-CE450807B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676838"/>
            <a:ext cx="5239512" cy="163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D56333FF-F1B1-8E96-88F8-AA1BB1C85C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82615"/>
            <a:ext cx="1706417" cy="62147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Omnitrix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F5E225-E228-05DF-3A53-04DB565BF00D}"/>
              </a:ext>
            </a:extLst>
          </p:cNvPr>
          <p:cNvSpPr txBox="1"/>
          <p:nvPr/>
        </p:nvSpPr>
        <p:spPr>
          <a:xfrm>
            <a:off x="704088" y="868680"/>
            <a:ext cx="51023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r>
              <a:rPr dirty="0"/>
              <a:t>Datasets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C6ABA7-7AE3-B9F8-3320-6F070A48DD09}"/>
              </a:ext>
            </a:extLst>
          </p:cNvPr>
          <p:cNvSpPr/>
          <p:nvPr/>
        </p:nvSpPr>
        <p:spPr>
          <a:xfrm>
            <a:off x="704088" y="1234440"/>
            <a:ext cx="497433" cy="22860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FC9429B4-12E8-BF0F-5F46-EE14C856046F}"/>
              </a:ext>
            </a:extLst>
          </p:cNvPr>
          <p:cNvSpPr/>
          <p:nvPr/>
        </p:nvSpPr>
        <p:spPr>
          <a:xfrm>
            <a:off x="502920" y="1325880"/>
            <a:ext cx="5349240" cy="1024128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7DF421-5B64-6AB5-ECE1-01A36D87E396}"/>
              </a:ext>
            </a:extLst>
          </p:cNvPr>
          <p:cNvSpPr/>
          <p:nvPr/>
        </p:nvSpPr>
        <p:spPr>
          <a:xfrm>
            <a:off x="502920" y="1325880"/>
            <a:ext cx="64008" cy="1024128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DCDE05-DA8A-DAB2-343A-B9E513B2E876}"/>
              </a:ext>
            </a:extLst>
          </p:cNvPr>
          <p:cNvSpPr txBox="1"/>
          <p:nvPr/>
        </p:nvSpPr>
        <p:spPr>
          <a:xfrm>
            <a:off x="670560" y="1357771"/>
            <a:ext cx="509320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 dirty="0"/>
              <a:t>INSAT-3D / INSAT-3DR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BCD840-4893-BA1B-8636-65441295C612}"/>
              </a:ext>
            </a:extLst>
          </p:cNvPr>
          <p:cNvSpPr txBox="1"/>
          <p:nvPr/>
        </p:nvSpPr>
        <p:spPr>
          <a:xfrm>
            <a:off x="667512" y="1709928"/>
            <a:ext cx="507492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/>
              <a:t>Satellite observations for cyclone monitoring.</a:t>
            </a:r>
            <a:br>
              <a:rPr sz="1600"/>
            </a:br>
            <a:r>
              <a:rPr sz="1600"/>
              <a:t>MOSDAC / ISRO data source.</a:t>
            </a:r>
          </a:p>
        </p:txBody>
      </p:sp>
      <p:sp>
        <p:nvSpPr>
          <p:cNvPr id="24" name="Rounded Rectangle 15">
            <a:extLst>
              <a:ext uri="{FF2B5EF4-FFF2-40B4-BE49-F238E27FC236}">
                <a16:creationId xmlns:a16="http://schemas.microsoft.com/office/drawing/2014/main" id="{C46CD974-F2E1-EA93-DA6A-5A5F42EF90D6}"/>
              </a:ext>
            </a:extLst>
          </p:cNvPr>
          <p:cNvSpPr/>
          <p:nvPr/>
        </p:nvSpPr>
        <p:spPr>
          <a:xfrm>
            <a:off x="502920" y="2514600"/>
            <a:ext cx="5349240" cy="1024128"/>
          </a:xfrm>
          <a:prstGeom prst="roundRect">
            <a:avLst/>
          </a:prstGeom>
          <a:solidFill>
            <a:srgbClr val="F1F9F4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36DBB-BF81-6AAB-7C70-045C1FD0C20B}"/>
              </a:ext>
            </a:extLst>
          </p:cNvPr>
          <p:cNvSpPr/>
          <p:nvPr/>
        </p:nvSpPr>
        <p:spPr>
          <a:xfrm>
            <a:off x="502920" y="2514600"/>
            <a:ext cx="64008" cy="1024128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01D06D-9515-49FB-1590-4C965E51782E}"/>
              </a:ext>
            </a:extLst>
          </p:cNvPr>
          <p:cNvSpPr txBox="1"/>
          <p:nvPr/>
        </p:nvSpPr>
        <p:spPr>
          <a:xfrm>
            <a:off x="667512" y="2546491"/>
            <a:ext cx="509320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/>
              <a:t>IMD CYCLONE 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49EEE5-4F6C-7274-E280-BE65BC6F64BC}"/>
              </a:ext>
            </a:extLst>
          </p:cNvPr>
          <p:cNvSpPr txBox="1"/>
          <p:nvPr/>
        </p:nvSpPr>
        <p:spPr>
          <a:xfrm>
            <a:off x="667512" y="3021979"/>
            <a:ext cx="5074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/>
              <a:t>Historical cyclone tracks, intensity and advisories.</a:t>
            </a:r>
          </a:p>
        </p:txBody>
      </p:sp>
      <p:sp>
        <p:nvSpPr>
          <p:cNvPr id="32" name="Rounded Rectangle 19">
            <a:extLst>
              <a:ext uri="{FF2B5EF4-FFF2-40B4-BE49-F238E27FC236}">
                <a16:creationId xmlns:a16="http://schemas.microsoft.com/office/drawing/2014/main" id="{08F6C9C6-D1AD-A59C-867B-D288B41224B6}"/>
              </a:ext>
            </a:extLst>
          </p:cNvPr>
          <p:cNvSpPr/>
          <p:nvPr/>
        </p:nvSpPr>
        <p:spPr>
          <a:xfrm>
            <a:off x="609600" y="3703320"/>
            <a:ext cx="5242560" cy="804672"/>
          </a:xfrm>
          <a:prstGeom prst="roundRect">
            <a:avLst/>
          </a:prstGeom>
          <a:solidFill>
            <a:srgbClr val="FCF7E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8BF15A-204F-8D46-7713-D479247DF1D5}"/>
              </a:ext>
            </a:extLst>
          </p:cNvPr>
          <p:cNvSpPr/>
          <p:nvPr/>
        </p:nvSpPr>
        <p:spPr>
          <a:xfrm>
            <a:off x="502920" y="3703320"/>
            <a:ext cx="54864" cy="804672"/>
          </a:xfrm>
          <a:prstGeom prst="rect">
            <a:avLst/>
          </a:prstGeom>
          <a:solidFill>
            <a:srgbClr val="E1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4E895D-7E83-CBDF-AC77-A71BAC83D9B0}"/>
              </a:ext>
            </a:extLst>
          </p:cNvPr>
          <p:cNvSpPr txBox="1"/>
          <p:nvPr/>
        </p:nvSpPr>
        <p:spPr>
          <a:xfrm>
            <a:off x="667512" y="3735211"/>
            <a:ext cx="509320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/>
              <a:t>NOAA IBTrACS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301234-1432-91BA-6839-126072093626}"/>
              </a:ext>
            </a:extLst>
          </p:cNvPr>
          <p:cNvSpPr txBox="1"/>
          <p:nvPr/>
        </p:nvSpPr>
        <p:spPr>
          <a:xfrm>
            <a:off x="670560" y="3999609"/>
            <a:ext cx="507187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 dirty="0"/>
              <a:t>Global historical tropical cyclone tracks and intensity data.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9C934F-14EF-7FC6-984D-07C079198BB7}"/>
              </a:ext>
            </a:extLst>
          </p:cNvPr>
          <p:cNvSpPr txBox="1"/>
          <p:nvPr/>
        </p:nvSpPr>
        <p:spPr>
          <a:xfrm>
            <a:off x="6373368" y="868680"/>
            <a:ext cx="51023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A4C6D"/>
                </a:solidFill>
                <a:latin typeface="Aptos"/>
              </a:defRPr>
            </a:pPr>
            <a:r>
              <a:t>Research References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AAA14E-8D65-BE65-79E2-CAEF67F6DB42}"/>
              </a:ext>
            </a:extLst>
          </p:cNvPr>
          <p:cNvSpPr/>
          <p:nvPr/>
        </p:nvSpPr>
        <p:spPr>
          <a:xfrm>
            <a:off x="6373368" y="1234440"/>
            <a:ext cx="1181404" cy="22860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6" name="Rounded Rectangle 26">
            <a:extLst>
              <a:ext uri="{FF2B5EF4-FFF2-40B4-BE49-F238E27FC236}">
                <a16:creationId xmlns:a16="http://schemas.microsoft.com/office/drawing/2014/main" id="{B83DF7C3-2512-7ABF-BBA8-3CDB1B7F3A64}"/>
              </a:ext>
            </a:extLst>
          </p:cNvPr>
          <p:cNvSpPr/>
          <p:nvPr/>
        </p:nvSpPr>
        <p:spPr>
          <a:xfrm>
            <a:off x="6172200" y="1325880"/>
            <a:ext cx="5349240" cy="1280160"/>
          </a:xfrm>
          <a:prstGeom prst="roundRect">
            <a:avLst/>
          </a:prstGeom>
          <a:solidFill>
            <a:srgbClr val="F1F9F4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48E723B-C5E8-310D-816E-BDF10350005B}"/>
              </a:ext>
            </a:extLst>
          </p:cNvPr>
          <p:cNvSpPr/>
          <p:nvPr/>
        </p:nvSpPr>
        <p:spPr>
          <a:xfrm>
            <a:off x="6172200" y="1325880"/>
            <a:ext cx="64008" cy="1280160"/>
          </a:xfrm>
          <a:prstGeom prst="rect">
            <a:avLst/>
          </a:prstGeom>
          <a:solidFill>
            <a:srgbClr val="33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63FA4C-7614-89B8-A942-2A493F4DF929}"/>
              </a:ext>
            </a:extLst>
          </p:cNvPr>
          <p:cNvSpPr txBox="1"/>
          <p:nvPr/>
        </p:nvSpPr>
        <p:spPr>
          <a:xfrm>
            <a:off x="6336792" y="1357771"/>
            <a:ext cx="509320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/>
              <a:t>2025 — CONVLSTM RESEARCH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FFDC7C-428F-1B29-1675-0620AE74F087}"/>
              </a:ext>
            </a:extLst>
          </p:cNvPr>
          <p:cNvSpPr txBox="1"/>
          <p:nvPr/>
        </p:nvSpPr>
        <p:spPr>
          <a:xfrm>
            <a:off x="6336792" y="1838164"/>
            <a:ext cx="5074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/>
              <a:t>Cyclone intensity estimation and classification using satellite imagery over the North Indian Ocean.</a:t>
            </a:r>
          </a:p>
        </p:txBody>
      </p:sp>
      <p:sp>
        <p:nvSpPr>
          <p:cNvPr id="54" name="Rounded Rectangle 30">
            <a:extLst>
              <a:ext uri="{FF2B5EF4-FFF2-40B4-BE49-F238E27FC236}">
                <a16:creationId xmlns:a16="http://schemas.microsoft.com/office/drawing/2014/main" id="{834511A0-6FDF-082E-F54D-4DF8556C0883}"/>
              </a:ext>
            </a:extLst>
          </p:cNvPr>
          <p:cNvSpPr/>
          <p:nvPr/>
        </p:nvSpPr>
        <p:spPr>
          <a:xfrm>
            <a:off x="6172200" y="2788920"/>
            <a:ext cx="5349240" cy="1280160"/>
          </a:xfrm>
          <a:prstGeom prst="roundRect">
            <a:avLst/>
          </a:prstGeom>
          <a:solidFill>
            <a:srgbClr val="F7F3FC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2F8B34C-ED58-9DD8-D9AE-8733A1077760}"/>
              </a:ext>
            </a:extLst>
          </p:cNvPr>
          <p:cNvSpPr/>
          <p:nvPr/>
        </p:nvSpPr>
        <p:spPr>
          <a:xfrm>
            <a:off x="6172200" y="2788920"/>
            <a:ext cx="64008" cy="1280160"/>
          </a:xfrm>
          <a:prstGeom prst="rect">
            <a:avLst/>
          </a:prstGeom>
          <a:solidFill>
            <a:srgbClr val="674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BBDF0B-AE36-63FC-F685-9B87EE0F7AFD}"/>
              </a:ext>
            </a:extLst>
          </p:cNvPr>
          <p:cNvSpPr txBox="1"/>
          <p:nvPr/>
        </p:nvSpPr>
        <p:spPr>
          <a:xfrm>
            <a:off x="6336792" y="2820810"/>
            <a:ext cx="509320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/>
              <a:t>2024 — EXPLAINABLE DEEP LEARNING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8160CA8-071C-6FA3-AED7-E4289758925B}"/>
              </a:ext>
            </a:extLst>
          </p:cNvPr>
          <p:cNvSpPr txBox="1"/>
          <p:nvPr/>
        </p:nvSpPr>
        <p:spPr>
          <a:xfrm>
            <a:off x="6336792" y="3301204"/>
            <a:ext cx="5074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/>
              <a:t>Cyclone intensity forecasting integrating satellite observations and numerical model outputs.</a:t>
            </a:r>
          </a:p>
        </p:txBody>
      </p:sp>
      <p:sp>
        <p:nvSpPr>
          <p:cNvPr id="62" name="Rounded Rectangle 34">
            <a:extLst>
              <a:ext uri="{FF2B5EF4-FFF2-40B4-BE49-F238E27FC236}">
                <a16:creationId xmlns:a16="http://schemas.microsoft.com/office/drawing/2014/main" id="{742E8FE4-789D-B4BB-2187-E98B698EE1AE}"/>
              </a:ext>
            </a:extLst>
          </p:cNvPr>
          <p:cNvSpPr/>
          <p:nvPr/>
        </p:nvSpPr>
        <p:spPr>
          <a:xfrm>
            <a:off x="6172200" y="4251960"/>
            <a:ext cx="5349240" cy="1024128"/>
          </a:xfrm>
          <a:prstGeom prst="roundRect">
            <a:avLst/>
          </a:prstGeom>
          <a:solidFill>
            <a:srgbClr val="EFF7FD"/>
          </a:solidFill>
          <a:ln>
            <a:solidFill>
              <a:srgbClr val="C4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408" name="Rectangle 17407">
            <a:extLst>
              <a:ext uri="{FF2B5EF4-FFF2-40B4-BE49-F238E27FC236}">
                <a16:creationId xmlns:a16="http://schemas.microsoft.com/office/drawing/2014/main" id="{1704B7D6-75FE-09B1-C56F-4BE91011A105}"/>
              </a:ext>
            </a:extLst>
          </p:cNvPr>
          <p:cNvSpPr/>
          <p:nvPr/>
        </p:nvSpPr>
        <p:spPr>
          <a:xfrm>
            <a:off x="6172200" y="4251960"/>
            <a:ext cx="64008" cy="1024128"/>
          </a:xfrm>
          <a:prstGeom prst="rect">
            <a:avLst/>
          </a:prstGeom>
          <a:solidFill>
            <a:srgbClr val="12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D0880B26-D099-FE2F-7DCC-431D5511DC18}"/>
              </a:ext>
            </a:extLst>
          </p:cNvPr>
          <p:cNvSpPr txBox="1"/>
          <p:nvPr/>
        </p:nvSpPr>
        <p:spPr>
          <a:xfrm>
            <a:off x="6336792" y="4283851"/>
            <a:ext cx="509320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2A4C6D"/>
                </a:solidFill>
                <a:latin typeface="Aptos"/>
              </a:defRPr>
            </a:pPr>
            <a:r>
              <a:rPr sz="1600"/>
              <a:t>TECHNOLOGY STACK</a:t>
            </a:r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66857413-0A91-6203-FA8D-9EE60E7DDBD0}"/>
              </a:ext>
            </a:extLst>
          </p:cNvPr>
          <p:cNvSpPr txBox="1"/>
          <p:nvPr/>
        </p:nvSpPr>
        <p:spPr>
          <a:xfrm>
            <a:off x="6336792" y="4636008"/>
            <a:ext cx="507492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91D22"/>
                </a:solidFill>
                <a:latin typeface="Aptos"/>
              </a:defRPr>
            </a:pPr>
            <a:r>
              <a:rPr sz="1600"/>
              <a:t>Python • ML / Deep Learning • Computer Vision • React / Next.js • FastAPI • PostgreSQL • Maps &amp; Satellite APIs.</a:t>
            </a:r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33CDA4B1-8459-66FE-D06E-E10DB30A5491}"/>
              </a:ext>
            </a:extLst>
          </p:cNvPr>
          <p:cNvSpPr txBox="1"/>
          <p:nvPr/>
        </p:nvSpPr>
        <p:spPr>
          <a:xfrm>
            <a:off x="6154420" y="5623560"/>
            <a:ext cx="51663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338F5E"/>
                </a:solidFill>
                <a:latin typeface="Aptos"/>
              </a:defRPr>
            </a:pPr>
            <a:r>
              <a:rPr sz="1600" dirty="0"/>
              <a:t>FROM DATA TO ACTION → A SAFER TOMORROW</a:t>
            </a:r>
          </a:p>
        </p:txBody>
      </p:sp>
      <p:pic>
        <p:nvPicPr>
          <p:cNvPr id="17424" name="Picture 17423">
            <a:extLst>
              <a:ext uri="{FF2B5EF4-FFF2-40B4-BE49-F238E27FC236}">
                <a16:creationId xmlns:a16="http://schemas.microsoft.com/office/drawing/2014/main" id="{24EEC7A6-4E40-8EC9-E731-3A557AF0E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07992"/>
            <a:ext cx="4768018" cy="166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7642</TotalTime>
  <Words>636</Words>
  <Application>Microsoft Office PowerPoint</Application>
  <PresentationFormat>Widescreen</PresentationFormat>
  <Paragraphs>152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Kavya M</cp:lastModifiedBy>
  <cp:revision>152</cp:revision>
  <dcterms:created xsi:type="dcterms:W3CDTF">2013-12-12T18:46:50Z</dcterms:created>
  <dcterms:modified xsi:type="dcterms:W3CDTF">2026-09-04T18:53:27Z</dcterms:modified>
  <cp:category/>
</cp:coreProperties>
</file>